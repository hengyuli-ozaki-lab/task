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30 秒) こんにちは。本日は TASK プラズマ輸送コードのライブラリ化プロジェクトについて、「どのような変更を入れたのか」と「どのように使えるのか」を 20 分でお話しします。対象は tr / fp / ti / wr / wrx / eq / tot の 7 モジュールで、約 86 件の PR をマージしています。途中で立ち止まりたい場合や、後ほど質問がある場合は最後にまとめて受け付けますので、お気軽にお声がけください。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これまでの TASK は、tr2 や fp などの CLI バイナリと、namelist で起動する形が基本でした。ところが、現代的な利用法としてはパラメータスイープや機械学習との結合が増えており、Python から呼べる API が必須となります。さらに最近は LLM クライアント (Claude や Cursor) からの自然言語呼び出しの需要も高まっています。今回のライブラリ化プロジェクトはこれらに応えるためのものです。重要なのは、既存の CLI バイナリは一切壊さず、追加機能として共有ライブラリと Python ラッパを提供している点です。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対象は 7 モジュールすべてが Phase L-0 から L-7、そして MCP サーバまで完了しました。eq は MHD 平衡計算で、F77 のレガシーコードが多かったため、Phase F (F-1..F-5 で F90 化 + shim 削除) も完了。tot は他 6 モジュールを namespace prefix (eq: / tr: 等) で束ねるオーケストレータで、L-5 Python wrapper + MCP まで完成。残作業は trlib の plot+TOML runner を他モジュールに横展開する作業のみ (スライド 15 参照)。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30 秒) こちらが今回のアーキテクチャの全体像です。左から右に向かって、Fortran 計算本体 → C ABI → Python ラッパ → MCP サーバの 4 層構成になっています。各層は色分けしており、青が Fortran、緑が C ABI、オレンジが Python、紫が MCP です。下段は利用側のエントリポイントで、従来の CLI バイナリも並列に維持しています。つまり Fortran のコア計算は唯一の真実のソースで、それを C ABI で薄く包み、Python で扱いやすくし、最終的に LLM からも触れる、というレイヤ構造になっています。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30 秒) 全モジュール共通の作業手順が Phase L-0 から L-7 までの 8 段階です。L-0 でまず回帰テスト基盤を整え、L-1 で Makefile を分割、L-2 で C ABI の雛形を作って、L-3 で SELECT CASE のパラメータレジストリを書き、L-4 で .so をビルドします。L-5 で Python ラッパ、L-6 でテスト、L-7 でドキュメント整備という流れです。1 フェーズ 1 PR で進めるため、各段階で Cursor Bugbot のレビュー完了を待ってから次のフェーズに進みます。この方法論は SKILL.md (PR #84) として文書化済みで、新規モジュールにも横展開できる形になっています。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eq モジュールだけは特殊で、F77 のレガシーコードが多く Phase L と並行してF90 近代化 (Phase F) を実施しました。F-1 で COMMON ブロックを MODULE に置き換え、F-2 で軽量な .f を .f90 化、F-3 では INCLUDE 経由の shim を使って段階的に置換しました。F-4 と F-5 は今後の作業です。重要な工夫は shim policy で、一気に置換するのではなく、新旧両方を一時的に共存させ、grep でゼロ確認してから撤去するという慎重な方法を採っています。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30 秒) テストは 4 層に分けています。Layer 1 は等価性テストで、Phase 0 で取った baseline と比較して 1e-10 で一致するかを確認します。Layer 2 は C ABI 側のスモークテスト、Layer 3 は Python ラッパの単体テスト、そして Layer 4 はパラメータグリッドを回すスイープテストです。全部 test_run/test_definitions.conf に登録してあり、CI で自動実行されます。tr_m0904 のように元コード自体が 1e-8 程度揺らぐケースは、baseline を pin する運用にして再現性を担保しています。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実際の使い方を見ていきます。これが trlib の hello world で、わずか 5 行で TR を起動できます。with 文でコンテキストマネージャに入ると tr_init が呼ばれ、set_params で複数のスカラーパラメータを一度に設定できます。配列要素は set_param('PN[1]', 1.0) のように1-origin で指定する点だけ注意してください。run で時間ステップを進め、get_state で結果を取り出して、with を抜けると自動的に finalize が呼ばれます。右側の図はこの 5 段階のフローを箱で示したものです。ierr のエラーコードはそれぞれ TrlibParamError などの例外にマップされています。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もう少し高水準な使い方として、TOML config runner を計画しています。ユーザは TOML ファイルにパラメータと実行条件を書き、python -m trlib config.toml を一発実行するだけで、TOML パース → ライブラリ実行 → プロット出力までが自動で走ります。git でケースを版管理しやすく、MCP からも同じ TOML を渡せるので LLM ワークフローと整合します。現時点ではまだ deferred 状態ですが、各モジュールへ横展開する予定です。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50 秒) こちらが TOML schema の想定例です。[run] でモジュールとステップ数を指定し、[geometry] [plasma] [transport] にパラメータを書き、[plot] で自動プロット対象を列挙します。配列は TOML の自然な構文で書けるので、namelist より見通しが良くなります。未指定キーは namelist の既定値が継続するため、差分だけを書けば良いという運用ができます。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50 秒) 可視化 API も今後の拡張として準備しています。tr.plot('RN') と書くだけで、現在の状態の密度プロファイルが matplotlib の Figure として返ってきます。右側はその出力イメージで、ρ 方向に対する electron / deuteron / tritium の密度プロファイルを描いたものです。Jupyter で対話的に動かす場合に特に便利で、MCP からも plot を要求できるようbase64 PNG 返却に拡張する計画です。これは visualization followup として保留中の項目です。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30 秒) MCP サーバの使い方です。流れとしては、ユーザーが Claude や Cursor のチャット欄に自然言語でリクエストを書きます。LLM はそれを解釈して、登録された MCP ツール (例: run_and_get_state) を選んで呼び出します。MCP サーバは標準入出力経由の JSON-RPC でリクエストを受け、内部で trlib を介して .so を呼び、結果を辞書で返します。LLM はその結果を要約してユーザーに自然言語で回答します。登録は claude mcp add task-tr 一行で済むので、利用者側のセットアップはとても軽いです。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MCP サーバが公開しているツールは 9 種類です。init / set_param / set_params / run / get_state / finalize の 6 つはライブラリ操作の素朴なラッパで、describe_parameters と describe_state_schema は LLM がツールを自己発見するための内省用ツールです。最後の run_and_get_state は init から get_state までを 1 回で呼べる複合ツールで、会話のラウンドトリップを節約するために用意しています。今後 plot ツールや TOML 入力対応も追加していく予定です。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ここまでの成果を数字でまとめます。merged PR は 96 件超、対象モジュール 7 つ全て Phase L-0..L-7 完了、各モジュール 28+ のテストケースを整備しました。MCP ツールは 9 種類 × 6 サーバ (tr/fp/ti/wr/wrx/tot) で展開済みです。ドキュメントとして、再利用可能な SKILL.md と日本語マニュアル PDF (55 ページ) も整備しました。重要なのは下段の通り、CLI バイナリは一切変更していない点です。共有ライブラリは純粋な追加機能であり、従来のユーザに何の影響も与えません。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残っている作業をまとめます。eq の L-6/L-7、tot の L-5 以降、Phase F-4/F-5 の HIGH tier F90 化、可視化 API、TOML runner、MCP の plot ツール、それから Jupyter notebook 形式のチュートリアルです。また、draft 状態になっている 6 件の plan PR をリベースして merge ready にすることも控えています。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今後の発展としては、まず Jupyter チュートリアルの整備、可視化レイヤの拡張、MCP の利用マニュアル整備が直近の課題です。より発展的には、scipy.optimize と組み合わせたパラメータ最適化、実験データへのデータ同化、tot を介したモジュール間結合、そして MCP マルチエージェントによる協調計算など、ライブラリ化を起点に多様な応用が可能になります。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1 分) Q&amp;A 用に 4 つの設計工夫を挙げます。1 つ目は Phase F の shim policy で、新旧コードを共存させ grep ゼロ確認後に撤去します。2 つ目は RTLD_LAZY と --unresolved-symbols で、graphics シンボルが未解決でも .so の dlopen を許容します。3 つ目は名前衝突対策で、BIND(C, NAME=...) と USE alias を組み合わせます。4 つ目はエラーコードで、0 から 4 を Python の例外階層に一貫マップしています。より詳細は docs/superpowers/specs/ や SKILL.md を参照してください。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 30 秒) まとめです。TASK の 7 モジュールを共有ライブラリ化し、Python と MCP から利用できるようにしました。テストは 4 層構成で数値等価性を保証し、SKILL.md とマニュアルで再現性も担保しています。参考資料は表に挙げたとおりです。ご清聴ありがとうございました。質問をお願いします。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210312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1277295" cy="1097280"/>
          </a:xfrm>
          <a:prstGeom prst="rect">
            <a:avLst/>
          </a:prstGeom>
          <a:noFill/>
        </p:spPr>
        <p:txBody>
          <a:bodyPr wrap="square" lIns="36000" rIns="36000" tIns="18000" bIns="18000" anchor="t">
            <a:spAutoFit/>
          </a:bodyPr>
          <a:lstStyle/>
          <a:p>
            <a:pPr algn="ctr"/>
            <a:r>
              <a:rPr sz="4000" b="1">
                <a:solidFill>
                  <a:srgbClr val="FFFFFF"/>
                </a:solidFill>
                <a:latin typeface="Noto Sans CJK JP"/>
              </a:rPr>
              <a:t>TASK プラズマ輸送コード</a:t>
            </a:r>
          </a:p>
          <a:p>
            <a:pPr algn="ctr"/>
            <a:r>
              <a:rPr sz="4000" b="1">
                <a:solidFill>
                  <a:srgbClr val="FFFFFF"/>
                </a:solidFill>
                <a:latin typeface="Noto Sans CJK JP"/>
              </a:rPr>
              <a:t>ライブラリ化プロジェクト</a:t>
            </a:r>
          </a:p>
        </p:txBody>
      </p:sp>
      <p:sp>
        <p:nvSpPr>
          <p:cNvPr id="5" name="TextBox 4"/>
          <p:cNvSpPr txBox="1"/>
          <p:nvPr/>
        </p:nvSpPr>
        <p:spPr>
          <a:xfrm>
            <a:off x="457200" y="3611880"/>
            <a:ext cx="11277295" cy="548640"/>
          </a:xfrm>
          <a:prstGeom prst="rect">
            <a:avLst/>
          </a:prstGeom>
          <a:noFill/>
        </p:spPr>
        <p:txBody>
          <a:bodyPr wrap="square" lIns="36000" rIns="36000" tIns="18000" bIns="18000" anchor="t">
            <a:spAutoFit/>
          </a:bodyPr>
          <a:lstStyle/>
          <a:p>
            <a:pPr algn="ctr"/>
            <a:r>
              <a:rPr sz="2400" b="0">
                <a:solidFill>
                  <a:srgbClr val="FFFFFF"/>
                </a:solidFill>
                <a:latin typeface="Noto Sans CJK JP"/>
              </a:rPr>
              <a:t>変更内容と使い方</a:t>
            </a:r>
          </a:p>
        </p:txBody>
      </p:sp>
      <p:sp>
        <p:nvSpPr>
          <p:cNvPr id="6" name="TextBox 5"/>
          <p:cNvSpPr txBox="1"/>
          <p:nvPr/>
        </p:nvSpPr>
        <p:spPr>
          <a:xfrm>
            <a:off x="457200" y="4572000"/>
            <a:ext cx="11277295" cy="457200"/>
          </a:xfrm>
          <a:prstGeom prst="rect">
            <a:avLst/>
          </a:prstGeom>
          <a:noFill/>
        </p:spPr>
        <p:txBody>
          <a:bodyPr wrap="square" lIns="36000" rIns="36000" tIns="18000" bIns="18000" anchor="t">
            <a:spAutoFit/>
          </a:bodyPr>
          <a:lstStyle/>
          <a:p>
            <a:pPr algn="ctr"/>
            <a:r>
              <a:rPr sz="1600" b="0">
                <a:solidFill>
                  <a:srgbClr val="555555"/>
                </a:solidFill>
                <a:latin typeface="Noto Sans CJK JP"/>
              </a:rPr>
              <a:t>発表日: 2026 年 4 月 19 日</a:t>
            </a:r>
          </a:p>
        </p:txBody>
      </p:sp>
      <p:sp>
        <p:nvSpPr>
          <p:cNvPr id="7" name="TextBox 6"/>
          <p:cNvSpPr txBox="1"/>
          <p:nvPr/>
        </p:nvSpPr>
        <p:spPr>
          <a:xfrm>
            <a:off x="457200" y="5029200"/>
            <a:ext cx="11277295" cy="457200"/>
          </a:xfrm>
          <a:prstGeom prst="rect">
            <a:avLst/>
          </a:prstGeom>
          <a:noFill/>
        </p:spPr>
        <p:txBody>
          <a:bodyPr wrap="square" lIns="36000" rIns="36000" tIns="18000" bIns="18000" anchor="t">
            <a:spAutoFit/>
          </a:bodyPr>
          <a:lstStyle/>
          <a:p>
            <a:pPr algn="ctr"/>
            <a:r>
              <a:rPr sz="1600" b="0">
                <a:solidFill>
                  <a:srgbClr val="555555"/>
                </a:solidFill>
                <a:latin typeface="Noto Sans CJK JP"/>
              </a:rPr>
              <a:t>発表者: &lt;発表者名&gt; (東京大学)</a:t>
            </a:r>
          </a:p>
        </p:txBody>
      </p:sp>
      <p:sp>
        <p:nvSpPr>
          <p:cNvPr id="8" name="TextBox 7"/>
          <p:cNvSpPr txBox="1"/>
          <p:nvPr/>
        </p:nvSpPr>
        <p:spPr>
          <a:xfrm>
            <a:off x="457200" y="6035040"/>
            <a:ext cx="11277295" cy="365760"/>
          </a:xfrm>
          <a:prstGeom prst="rect">
            <a:avLst/>
          </a:prstGeom>
          <a:noFill/>
        </p:spPr>
        <p:txBody>
          <a:bodyPr wrap="square" lIns="36000" rIns="36000" tIns="18000" bIns="18000" anchor="t">
            <a:spAutoFit/>
          </a:bodyPr>
          <a:lstStyle/>
          <a:p>
            <a:pPr algn="ctr"/>
            <a:r>
              <a:rPr sz="1200" b="0">
                <a:solidFill>
                  <a:srgbClr val="555555"/>
                </a:solidFill>
                <a:latin typeface="Noto Sans CJK JP"/>
              </a:rPr>
              <a:t>Phase L-0 〜 L-7 / Phase F-1 〜 F-5 / MCP サーバ / 96 PR merge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背景・モチベーション</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なぜ TASK をライブラリ化するのか</a:t>
            </a:r>
          </a:p>
        </p:txBody>
      </p:sp>
      <p:sp>
        <p:nvSpPr>
          <p:cNvPr id="5" name="TextBox 4"/>
          <p:cNvSpPr txBox="1"/>
          <p:nvPr/>
        </p:nvSpPr>
        <p:spPr>
          <a:xfrm>
            <a:off x="457200" y="1097280"/>
            <a:ext cx="6400800" cy="4754880"/>
          </a:xfrm>
          <a:prstGeom prst="rect">
            <a:avLst/>
          </a:prstGeom>
          <a:noFill/>
        </p:spPr>
        <p:txBody>
          <a:bodyPr wrap="square" lIns="36000" rIns="36000" tIns="18000" bIns="18000">
            <a:spAutoFit/>
          </a:bodyPr>
          <a:lstStyle/>
          <a:p>
            <a:pPr algn="l">
              <a:spcAft>
                <a:spcPts val="600"/>
              </a:spcAft>
            </a:pPr>
            <a:r>
              <a:rPr sz="1600">
                <a:solidFill>
                  <a:srgbClr val="101010"/>
                </a:solidFill>
                <a:latin typeface="Noto Sans CJK JP"/>
              </a:rPr>
              <a:t>・ TASK は CLI ベースの Fortran コードで、対話メニュー + namelist 入力が前提です。</a:t>
            </a:r>
          </a:p>
          <a:p>
            <a:pPr algn="l">
              <a:spcAft>
                <a:spcPts val="600"/>
              </a:spcAft>
            </a:pPr>
            <a:r>
              <a:rPr sz="1600">
                <a:solidFill>
                  <a:srgbClr val="101010"/>
                </a:solidFill>
                <a:latin typeface="Noto Sans CJK JP"/>
              </a:rPr>
              <a:t>・ Python から呼びたい (パラメータスイープ・最適化・データ同化など)。</a:t>
            </a:r>
          </a:p>
          <a:p>
            <a:pPr algn="l">
              <a:spcAft>
                <a:spcPts val="600"/>
              </a:spcAft>
            </a:pPr>
            <a:r>
              <a:rPr sz="1600">
                <a:solidFill>
                  <a:srgbClr val="101010"/>
                </a:solidFill>
                <a:latin typeface="Noto Sans CJK JP"/>
              </a:rPr>
              <a:t>・ Jupyter / matplotlib / numpy など Python エコシステムと組み合わせたい。</a:t>
            </a:r>
          </a:p>
          <a:p>
            <a:pPr algn="l">
              <a:spcAft>
                <a:spcPts val="600"/>
              </a:spcAft>
            </a:pPr>
            <a:r>
              <a:rPr sz="1600">
                <a:solidFill>
                  <a:srgbClr val="101010"/>
                </a:solidFill>
                <a:latin typeface="Noto Sans CJK JP"/>
              </a:rPr>
              <a:t>・ LLM (Claude / Cursor) から自然言語で計算を起動したい (MCP)。</a:t>
            </a:r>
          </a:p>
          <a:p>
            <a:pPr algn="l">
              <a:spcAft>
                <a:spcPts val="600"/>
              </a:spcAft>
            </a:pPr>
            <a:r>
              <a:rPr sz="1600">
                <a:solidFill>
                  <a:srgbClr val="101010"/>
                </a:solidFill>
                <a:latin typeface="Noto Sans CJK JP"/>
              </a:rPr>
              <a:t>・ 回帰テストを自動化し、改修時の数値安全性を機械的に保証したい。</a:t>
            </a:r>
          </a:p>
          <a:p>
            <a:pPr algn="l">
              <a:spcAft>
                <a:spcPts val="600"/>
              </a:spcAft>
            </a:pPr>
            <a:r>
              <a:rPr sz="1600">
                <a:solidFill>
                  <a:srgbClr val="101010"/>
                </a:solidFill>
                <a:latin typeface="Noto Sans CJK JP"/>
              </a:rPr>
              <a:t>・ 既存の CLI バイナリ (tr2 など) を壊さず、追加機能として提供したい。</a:t>
            </a:r>
          </a:p>
        </p:txBody>
      </p:sp>
      <p:sp>
        <p:nvSpPr>
          <p:cNvPr id="6" name="Rounded Rectangle 5"/>
          <p:cNvSpPr/>
          <p:nvPr/>
        </p:nvSpPr>
        <p:spPr>
          <a:xfrm>
            <a:off x="7315200" y="1371600"/>
            <a:ext cx="4389120" cy="201168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600" b="1">
                <a:solidFill>
                  <a:srgbClr val="FFFFFF"/>
                </a:solidFill>
                <a:latin typeface="Noto Sans CJK JP"/>
              </a:rPr>
              <a:t>Before</a:t>
            </a:r>
          </a:p>
          <a:p>
            <a:pPr algn="ctr"/>
            <a:r>
              <a:rPr sz="1200">
                <a:solidFill>
                  <a:srgbClr val="FFFFFF"/>
                </a:solidFill>
                <a:latin typeface="Noto Sans CJK JP"/>
              </a:rPr>
              <a:t>Fortran CLI のみ</a:t>
            </a:r>
          </a:p>
          <a:p>
            <a:pPr algn="ctr"/>
            <a:r>
              <a:rPr sz="1200">
                <a:solidFill>
                  <a:srgbClr val="FFFFFF"/>
                </a:solidFill>
                <a:latin typeface="Noto Sans CJK JP"/>
              </a:rPr>
              <a:t>対話メニュー + namelist</a:t>
            </a:r>
          </a:p>
          <a:p>
            <a:pPr algn="ctr"/>
            <a:r>
              <a:rPr sz="1200">
                <a:solidFill>
                  <a:srgbClr val="FFFFFF"/>
                </a:solidFill>
                <a:latin typeface="Noto Sans CJK JP"/>
              </a:rPr>
              <a:t>スクリプト化が困難</a:t>
            </a:r>
          </a:p>
        </p:txBody>
      </p:sp>
      <p:sp>
        <p:nvSpPr>
          <p:cNvPr id="7" name="Rounded Rectangle 6"/>
          <p:cNvSpPr/>
          <p:nvPr/>
        </p:nvSpPr>
        <p:spPr>
          <a:xfrm>
            <a:off x="7315200" y="3657600"/>
            <a:ext cx="4389120" cy="2377440"/>
          </a:xfrm>
          <a:prstGeom prst="roundRect">
            <a:avLst/>
          </a:prstGeom>
          <a:solidFill>
            <a:srgbClr val="1B5E2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600" b="1">
                <a:solidFill>
                  <a:srgbClr val="FFFFFF"/>
                </a:solidFill>
                <a:latin typeface="Noto Sans CJK JP"/>
              </a:rPr>
              <a:t>After</a:t>
            </a:r>
          </a:p>
          <a:p>
            <a:pPr algn="ctr"/>
            <a:r>
              <a:rPr sz="1200">
                <a:solidFill>
                  <a:srgbClr val="FFFFFF"/>
                </a:solidFill>
                <a:latin typeface="Noto Sans CJK JP"/>
              </a:rPr>
              <a:t>lib&lt;X&gt;api.so + Python ラッパ</a:t>
            </a:r>
          </a:p>
          <a:p>
            <a:pPr algn="ctr"/>
            <a:r>
              <a:rPr sz="1200">
                <a:solidFill>
                  <a:srgbClr val="FFFFFF"/>
                </a:solidFill>
                <a:latin typeface="Noto Sans CJK JP"/>
              </a:rPr>
              <a:t>+ MCP サーバで LLM からも操作</a:t>
            </a:r>
          </a:p>
          <a:p>
            <a:pPr algn="ctr"/>
            <a:r>
              <a:rPr sz="1200">
                <a:solidFill>
                  <a:srgbClr val="FFFFFF"/>
                </a:solidFill>
                <a:latin typeface="Noto Sans CJK JP"/>
              </a:rPr>
              <a:t>CLI バイナリは従来どおり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対象モジュール一覧</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tr / fp / ti / wr / wrx / eq / tot の 7 モジュール</a:t>
            </a:r>
          </a:p>
        </p:txBody>
      </p:sp>
      <p:graphicFrame>
        <p:nvGraphicFramePr>
          <p:cNvPr id="5" name="Table 4"/>
          <p:cNvGraphicFramePr>
            <a:graphicFrameLocks noGrp="1"/>
          </p:cNvGraphicFramePr>
          <p:nvPr/>
        </p:nvGraphicFramePr>
        <p:xfrm>
          <a:off x="457200" y="1188720"/>
          <a:ext cx="11247120" cy="493776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617220">
                <a:tc>
                  <a:txBody>
                    <a:bodyPr wrap="square"/>
                    <a:lstStyle/>
                    <a:p>
                      <a:pPr algn="l"/>
                      <a:r>
                        <a:rPr sz="1400" b="1">
                          <a:solidFill>
                            <a:srgbClr val="FFFFFF"/>
                          </a:solidFill>
                          <a:latin typeface="Noto Sans CJK JP"/>
                        </a:rPr>
                        <a:t>モジュール</a:t>
                      </a:r>
                    </a:p>
                  </a:txBody>
                  <a:tcPr>
                    <a:solidFill>
                      <a:srgbClr val="0D47A1"/>
                    </a:solidFill>
                  </a:tcPr>
                </a:tc>
                <a:tc>
                  <a:txBody>
                    <a:bodyPr wrap="square"/>
                    <a:lstStyle/>
                    <a:p>
                      <a:pPr algn="l"/>
                      <a:r>
                        <a:rPr sz="1400" b="1">
                          <a:solidFill>
                            <a:srgbClr val="FFFFFF"/>
                          </a:solidFill>
                          <a:latin typeface="Noto Sans CJK JP"/>
                        </a:rPr>
                        <a:t>役割</a:t>
                      </a:r>
                    </a:p>
                  </a:txBody>
                  <a:tcPr>
                    <a:solidFill>
                      <a:srgbClr val="0D47A1"/>
                    </a:solidFill>
                  </a:tcPr>
                </a:tc>
                <a:tc>
                  <a:txBody>
                    <a:bodyPr wrap="square"/>
                    <a:lstStyle/>
                    <a:p>
                      <a:pPr algn="l"/>
                      <a:r>
                        <a:rPr sz="1400" b="1">
                          <a:solidFill>
                            <a:srgbClr val="FFFFFF"/>
                          </a:solidFill>
                          <a:latin typeface="Noto Sans CJK JP"/>
                        </a:rPr>
                        <a:t>L-0..L-7</a:t>
                      </a:r>
                    </a:p>
                  </a:txBody>
                  <a:tcPr>
                    <a:solidFill>
                      <a:srgbClr val="0D47A1"/>
                    </a:solidFill>
                  </a:tcPr>
                </a:tc>
                <a:tc>
                  <a:txBody>
                    <a:bodyPr wrap="square"/>
                    <a:lstStyle/>
                    <a:p>
                      <a:pPr algn="l"/>
                      <a:r>
                        <a:rPr sz="1400" b="1">
                          <a:solidFill>
                            <a:srgbClr val="FFFFFF"/>
                          </a:solidFill>
                          <a:latin typeface="Noto Sans CJK JP"/>
                        </a:rPr>
                        <a:t>Phase F</a:t>
                      </a:r>
                    </a:p>
                  </a:txBody>
                  <a:tcPr>
                    <a:solidFill>
                      <a:srgbClr val="0D47A1"/>
                    </a:solidFill>
                  </a:tcPr>
                </a:tc>
                <a:tc>
                  <a:txBody>
                    <a:bodyPr wrap="square"/>
                    <a:lstStyle/>
                    <a:p>
                      <a:pPr algn="l"/>
                      <a:r>
                        <a:rPr sz="1400" b="1">
                          <a:solidFill>
                            <a:srgbClr val="FFFFFF"/>
                          </a:solidFill>
                          <a:latin typeface="Noto Sans CJK JP"/>
                        </a:rPr>
                        <a:t>MCP</a:t>
                      </a:r>
                    </a:p>
                  </a:txBody>
                  <a:tcPr>
                    <a:solidFill>
                      <a:srgbClr val="0D47A1"/>
                    </a:solidFill>
                  </a:tcPr>
                </a:tc>
                <a:tc>
                  <a:txBody>
                    <a:bodyPr wrap="square"/>
                    <a:lstStyle/>
                    <a:p>
                      <a:pPr algn="l"/>
                      <a:r>
                        <a:rPr sz="1400" b="1">
                          <a:solidFill>
                            <a:srgbClr val="FFFFFF"/>
                          </a:solidFill>
                          <a:latin typeface="Noto Sans CJK JP"/>
                        </a:rPr>
                        <a:t>備考</a:t>
                      </a:r>
                    </a:p>
                  </a:txBody>
                  <a:tcPr>
                    <a:solidFill>
                      <a:srgbClr val="0D47A1"/>
                    </a:solidFill>
                  </a:tcPr>
                </a:tc>
              </a:tr>
              <a:tr h="617220">
                <a:tc>
                  <a:txBody>
                    <a:bodyPr wrap="square"/>
                    <a:lstStyle/>
                    <a:p>
                      <a:pPr algn="l"/>
                      <a:r>
                        <a:rPr sz="1400">
                          <a:solidFill>
                            <a:srgbClr val="101010"/>
                          </a:solidFill>
                          <a:latin typeface="Noto Sans CJK JP"/>
                        </a:rPr>
                        <a:t>tr</a:t>
                      </a:r>
                    </a:p>
                  </a:txBody>
                  <a:tcPr>
                    <a:solidFill>
                      <a:srgbClr val="FFFFFF"/>
                    </a:solidFill>
                  </a:tcPr>
                </a:tc>
                <a:tc>
                  <a:txBody>
                    <a:bodyPr wrap="square"/>
                    <a:lstStyle/>
                    <a:p>
                      <a:pPr algn="l"/>
                      <a:r>
                        <a:rPr sz="1400">
                          <a:solidFill>
                            <a:srgbClr val="101010"/>
                          </a:solidFill>
                          <a:latin typeface="Noto Sans CJK JP"/>
                        </a:rPr>
                        <a:t>1 次元輸送</a:t>
                      </a:r>
                    </a:p>
                  </a:txBody>
                  <a:tcPr>
                    <a:solidFill>
                      <a:srgbClr val="FFFFFF"/>
                    </a:solidFill>
                  </a:tcPr>
                </a:tc>
                <a:tc>
                  <a:txBody>
                    <a:bodyPr wrap="square"/>
                    <a:lstStyle/>
                    <a:p>
                      <a:pPr algn="l"/>
                      <a:r>
                        <a:rPr sz="1400">
                          <a:solidFill>
                            <a:srgbClr val="101010"/>
                          </a:solidFill>
                          <a:latin typeface="Noto Sans CJK JP"/>
                        </a:rPr>
                        <a:t>完了</a:t>
                      </a:r>
                    </a:p>
                  </a:txBody>
                  <a:tcPr>
                    <a:solidFill>
                      <a:srgbClr val="FFFFFF"/>
                    </a:solidFill>
                  </a:tcPr>
                </a:tc>
                <a:tc>
                  <a:txBody>
                    <a:bodyPr wrap="square"/>
                    <a:lstStyle/>
                    <a:p>
                      <a:pPr algn="l"/>
                      <a:r>
                        <a:rPr sz="1400">
                          <a:solidFill>
                            <a:srgbClr val="101010"/>
                          </a:solidFill>
                          <a:latin typeface="Noto Sans CJK JP"/>
                        </a:rPr>
                        <a:t>(対象外)</a:t>
                      </a:r>
                    </a:p>
                  </a:txBody>
                  <a:tcPr>
                    <a:solidFill>
                      <a:srgbClr val="FFFFFF"/>
                    </a:solidFill>
                  </a:tcPr>
                </a:tc>
                <a:tc>
                  <a:txBody>
                    <a:bodyPr wrap="square"/>
                    <a:lstStyle/>
                    <a:p>
                      <a:pPr algn="l"/>
                      <a:r>
                        <a:rPr sz="1400">
                          <a:solidFill>
                            <a:srgbClr val="101010"/>
                          </a:solidFill>
                          <a:latin typeface="Noto Sans CJK JP"/>
                        </a:rPr>
                        <a:t>完了</a:t>
                      </a:r>
                    </a:p>
                  </a:txBody>
                  <a:tcPr>
                    <a:solidFill>
                      <a:srgbClr val="FFFFFF"/>
                    </a:solidFill>
                  </a:tcPr>
                </a:tc>
                <a:tc>
                  <a:txBody>
                    <a:bodyPr wrap="square"/>
                    <a:lstStyle/>
                    <a:p>
                      <a:pPr algn="l"/>
                      <a:r>
                        <a:rPr sz="1400">
                          <a:solidFill>
                            <a:srgbClr val="101010"/>
                          </a:solidFill>
                          <a:latin typeface="Noto Sans CJK JP"/>
                        </a:rPr>
                        <a:t>リファレンス実装</a:t>
                      </a:r>
                    </a:p>
                  </a:txBody>
                  <a:tcPr>
                    <a:solidFill>
                      <a:srgbClr val="FFFFFF"/>
                    </a:solidFill>
                  </a:tcPr>
                </a:tc>
              </a:tr>
              <a:tr h="617220">
                <a:tc>
                  <a:txBody>
                    <a:bodyPr wrap="square"/>
                    <a:lstStyle/>
                    <a:p>
                      <a:pPr algn="l"/>
                      <a:r>
                        <a:rPr sz="1400">
                          <a:solidFill>
                            <a:srgbClr val="101010"/>
                          </a:solidFill>
                          <a:latin typeface="Noto Sans CJK JP"/>
                        </a:rPr>
                        <a:t>fp</a:t>
                      </a:r>
                    </a:p>
                  </a:txBody>
                  <a:tcPr>
                    <a:solidFill>
                      <a:srgbClr val="EEEEEE"/>
                    </a:solidFill>
                  </a:tcPr>
                </a:tc>
                <a:tc>
                  <a:txBody>
                    <a:bodyPr wrap="square"/>
                    <a:lstStyle/>
                    <a:p>
                      <a:pPr algn="l"/>
                      <a:r>
                        <a:rPr sz="1400">
                          <a:solidFill>
                            <a:srgbClr val="101010"/>
                          </a:solidFill>
                          <a:latin typeface="Noto Sans CJK JP"/>
                        </a:rPr>
                        <a:t>Fokker-Planck 解析</a:t>
                      </a:r>
                    </a:p>
                  </a:txBody>
                  <a:tcPr>
                    <a:solidFill>
                      <a:srgbClr val="EEEEEE"/>
                    </a:solidFill>
                  </a:tcPr>
                </a:tc>
                <a:tc>
                  <a:txBody>
                    <a:bodyPr wrap="square"/>
                    <a:lstStyle/>
                    <a:p>
                      <a:pPr algn="l"/>
                      <a:r>
                        <a:rPr sz="1400">
                          <a:solidFill>
                            <a:srgbClr val="101010"/>
                          </a:solidFill>
                          <a:latin typeface="Noto Sans CJK JP"/>
                        </a:rPr>
                        <a:t>完了</a:t>
                      </a:r>
                    </a:p>
                  </a:txBody>
                  <a:tcPr>
                    <a:solidFill>
                      <a:srgbClr val="EEEEEE"/>
                    </a:solidFill>
                  </a:tcPr>
                </a:tc>
                <a:tc>
                  <a:txBody>
                    <a:bodyPr wrap="square"/>
                    <a:lstStyle/>
                    <a:p>
                      <a:pPr algn="l"/>
                      <a:r>
                        <a:rPr sz="1400">
                          <a:solidFill>
                            <a:srgbClr val="101010"/>
                          </a:solidFill>
                          <a:latin typeface="Noto Sans CJK JP"/>
                        </a:rPr>
                        <a:t>(対象外)</a:t>
                      </a:r>
                    </a:p>
                  </a:txBody>
                  <a:tcPr>
                    <a:solidFill>
                      <a:srgbClr val="EEEEEE"/>
                    </a:solidFill>
                  </a:tcPr>
                </a:tc>
                <a:tc>
                  <a:txBody>
                    <a:bodyPr wrap="square"/>
                    <a:lstStyle/>
                    <a:p>
                      <a:pPr algn="l"/>
                      <a:r>
                        <a:rPr sz="1400">
                          <a:solidFill>
                            <a:srgbClr val="101010"/>
                          </a:solidFill>
                          <a:latin typeface="Noto Sans CJK JP"/>
                        </a:rPr>
                        <a:t>完了</a:t>
                      </a:r>
                    </a:p>
                  </a:txBody>
                  <a:tcPr>
                    <a:solidFill>
                      <a:srgbClr val="EEEEEE"/>
                    </a:solidFill>
                  </a:tcPr>
                </a:tc>
                <a:tc>
                  <a:txBody>
                    <a:bodyPr wrap="square"/>
                    <a:lstStyle/>
                    <a:p>
                      <a:pPr algn="l"/>
                      <a:r>
                        <a:rPr sz="1400">
                          <a:solidFill>
                            <a:srgbClr val="101010"/>
                          </a:solidFill>
                          <a:latin typeface="Noto Sans CJK JP"/>
                        </a:rPr>
                        <a:t>fp_finalize に既知問題</a:t>
                      </a:r>
                    </a:p>
                  </a:txBody>
                  <a:tcPr>
                    <a:solidFill>
                      <a:srgbClr val="EEEEEE"/>
                    </a:solidFill>
                  </a:tcPr>
                </a:tc>
              </a:tr>
              <a:tr h="617220">
                <a:tc>
                  <a:txBody>
                    <a:bodyPr wrap="square"/>
                    <a:lstStyle/>
                    <a:p>
                      <a:pPr algn="l"/>
                      <a:r>
                        <a:rPr sz="1400">
                          <a:solidFill>
                            <a:srgbClr val="101010"/>
                          </a:solidFill>
                          <a:latin typeface="Noto Sans CJK JP"/>
                        </a:rPr>
                        <a:t>ti</a:t>
                      </a:r>
                    </a:p>
                  </a:txBody>
                  <a:tcPr>
                    <a:solidFill>
                      <a:srgbClr val="FFFFFF"/>
                    </a:solidFill>
                  </a:tcPr>
                </a:tc>
                <a:tc>
                  <a:txBody>
                    <a:bodyPr wrap="square"/>
                    <a:lstStyle/>
                    <a:p>
                      <a:pPr algn="l"/>
                      <a:r>
                        <a:rPr sz="1400">
                          <a:solidFill>
                            <a:srgbClr val="101010"/>
                          </a:solidFill>
                          <a:latin typeface="Noto Sans CJK JP"/>
                        </a:rPr>
                        <a:t>不純物輸送</a:t>
                      </a:r>
                    </a:p>
                  </a:txBody>
                  <a:tcPr>
                    <a:solidFill>
                      <a:srgbClr val="FFFFFF"/>
                    </a:solidFill>
                  </a:tcPr>
                </a:tc>
                <a:tc>
                  <a:txBody>
                    <a:bodyPr wrap="square"/>
                    <a:lstStyle/>
                    <a:p>
                      <a:pPr algn="l"/>
                      <a:r>
                        <a:rPr sz="1400">
                          <a:solidFill>
                            <a:srgbClr val="101010"/>
                          </a:solidFill>
                          <a:latin typeface="Noto Sans CJK JP"/>
                        </a:rPr>
                        <a:t>完了</a:t>
                      </a:r>
                    </a:p>
                  </a:txBody>
                  <a:tcPr>
                    <a:solidFill>
                      <a:srgbClr val="FFFFFF"/>
                    </a:solidFill>
                  </a:tcPr>
                </a:tc>
                <a:tc>
                  <a:txBody>
                    <a:bodyPr wrap="square"/>
                    <a:lstStyle/>
                    <a:p>
                      <a:pPr algn="l"/>
                      <a:r>
                        <a:rPr sz="1400">
                          <a:solidFill>
                            <a:srgbClr val="101010"/>
                          </a:solidFill>
                          <a:latin typeface="Noto Sans CJK JP"/>
                        </a:rPr>
                        <a:t>(対象外)</a:t>
                      </a:r>
                    </a:p>
                  </a:txBody>
                  <a:tcPr>
                    <a:solidFill>
                      <a:srgbClr val="FFFFFF"/>
                    </a:solidFill>
                  </a:tcPr>
                </a:tc>
                <a:tc>
                  <a:txBody>
                    <a:bodyPr wrap="square"/>
                    <a:lstStyle/>
                    <a:p>
                      <a:pPr algn="l"/>
                      <a:r>
                        <a:rPr sz="1400">
                          <a:solidFill>
                            <a:srgbClr val="101010"/>
                          </a:solidFill>
                          <a:latin typeface="Noto Sans CJK JP"/>
                        </a:rPr>
                        <a:t>完了</a:t>
                      </a:r>
                    </a:p>
                  </a:txBody>
                  <a:tcPr>
                    <a:solidFill>
                      <a:srgbClr val="FFFFFF"/>
                    </a:solidFill>
                  </a:tcPr>
                </a:tc>
                <a:tc>
                  <a:txBody>
                    <a:bodyPr wrap="square"/>
                    <a:lstStyle/>
                    <a:p>
                      <a:pPr algn="l"/>
                      <a:r>
                        <a:rPr sz="1400">
                          <a:solidFill>
                            <a:srgbClr val="101010"/>
                          </a:solidFill>
                          <a:latin typeface="Noto Sans CJK JP"/>
                        </a:rPr>
                        <a:t>PA 配列で原子質量設定</a:t>
                      </a:r>
                    </a:p>
                  </a:txBody>
                  <a:tcPr>
                    <a:solidFill>
                      <a:srgbClr val="FFFFFF"/>
                    </a:solidFill>
                  </a:tcPr>
                </a:tc>
              </a:tr>
              <a:tr h="617220">
                <a:tc>
                  <a:txBody>
                    <a:bodyPr wrap="square"/>
                    <a:lstStyle/>
                    <a:p>
                      <a:pPr algn="l"/>
                      <a:r>
                        <a:rPr sz="1400">
                          <a:solidFill>
                            <a:srgbClr val="101010"/>
                          </a:solidFill>
                          <a:latin typeface="Noto Sans CJK JP"/>
                        </a:rPr>
                        <a:t>wr</a:t>
                      </a:r>
                    </a:p>
                  </a:txBody>
                  <a:tcPr>
                    <a:solidFill>
                      <a:srgbClr val="EEEEEE"/>
                    </a:solidFill>
                  </a:tcPr>
                </a:tc>
                <a:tc>
                  <a:txBody>
                    <a:bodyPr wrap="square"/>
                    <a:lstStyle/>
                    <a:p>
                      <a:pPr algn="l"/>
                      <a:r>
                        <a:rPr sz="1400">
                          <a:solidFill>
                            <a:srgbClr val="101010"/>
                          </a:solidFill>
                          <a:latin typeface="Noto Sans CJK JP"/>
                        </a:rPr>
                        <a:t>波動レイトレーシング</a:t>
                      </a:r>
                    </a:p>
                  </a:txBody>
                  <a:tcPr>
                    <a:solidFill>
                      <a:srgbClr val="EEEEEE"/>
                    </a:solidFill>
                  </a:tcPr>
                </a:tc>
                <a:tc>
                  <a:txBody>
                    <a:bodyPr wrap="square"/>
                    <a:lstStyle/>
                    <a:p>
                      <a:pPr algn="l"/>
                      <a:r>
                        <a:rPr sz="1400">
                          <a:solidFill>
                            <a:srgbClr val="101010"/>
                          </a:solidFill>
                          <a:latin typeface="Noto Sans CJK JP"/>
                        </a:rPr>
                        <a:t>完了</a:t>
                      </a:r>
                    </a:p>
                  </a:txBody>
                  <a:tcPr>
                    <a:solidFill>
                      <a:srgbClr val="EEEEEE"/>
                    </a:solidFill>
                  </a:tcPr>
                </a:tc>
                <a:tc>
                  <a:txBody>
                    <a:bodyPr wrap="square"/>
                    <a:lstStyle/>
                    <a:p>
                      <a:pPr algn="l"/>
                      <a:r>
                        <a:rPr sz="1400">
                          <a:solidFill>
                            <a:srgbClr val="101010"/>
                          </a:solidFill>
                          <a:latin typeface="Noto Sans CJK JP"/>
                        </a:rPr>
                        <a:t>(対象外)</a:t>
                      </a:r>
                    </a:p>
                  </a:txBody>
                  <a:tcPr>
                    <a:solidFill>
                      <a:srgbClr val="EEEEEE"/>
                    </a:solidFill>
                  </a:tcPr>
                </a:tc>
                <a:tc>
                  <a:txBody>
                    <a:bodyPr wrap="square"/>
                    <a:lstStyle/>
                    <a:p>
                      <a:pPr algn="l"/>
                      <a:r>
                        <a:rPr sz="1400">
                          <a:solidFill>
                            <a:srgbClr val="101010"/>
                          </a:solidFill>
                          <a:latin typeface="Noto Sans CJK JP"/>
                        </a:rPr>
                        <a:t>完了</a:t>
                      </a:r>
                    </a:p>
                  </a:txBody>
                  <a:tcPr>
                    <a:solidFill>
                      <a:srgbClr val="EEEEEE"/>
                    </a:solidFill>
                  </a:tcPr>
                </a:tc>
                <a:tc>
                  <a:txBody>
                    <a:bodyPr wrap="square"/>
                    <a:lstStyle/>
                    <a:p>
                      <a:pPr algn="l"/>
                      <a:r>
                        <a:rPr sz="1400">
                          <a:solidFill>
                            <a:srgbClr val="101010"/>
                          </a:solidFill>
                          <a:latin typeface="Noto Sans CJK JP"/>
                        </a:rPr>
                        <a:t>Bugbot HIGH 修正済み</a:t>
                      </a:r>
                    </a:p>
                  </a:txBody>
                  <a:tcPr>
                    <a:solidFill>
                      <a:srgbClr val="EEEEEE"/>
                    </a:solidFill>
                  </a:tcPr>
                </a:tc>
              </a:tr>
              <a:tr h="617220">
                <a:tc>
                  <a:txBody>
                    <a:bodyPr wrap="square"/>
                    <a:lstStyle/>
                    <a:p>
                      <a:pPr algn="l"/>
                      <a:r>
                        <a:rPr sz="1400">
                          <a:solidFill>
                            <a:srgbClr val="101010"/>
                          </a:solidFill>
                          <a:latin typeface="Noto Sans CJK JP"/>
                        </a:rPr>
                        <a:t>wrx</a:t>
                      </a:r>
                    </a:p>
                  </a:txBody>
                  <a:tcPr>
                    <a:solidFill>
                      <a:srgbClr val="FFFFFF"/>
                    </a:solidFill>
                  </a:tcPr>
                </a:tc>
                <a:tc>
                  <a:txBody>
                    <a:bodyPr wrap="square"/>
                    <a:lstStyle/>
                    <a:p>
                      <a:pPr algn="l"/>
                      <a:r>
                        <a:rPr sz="1400">
                          <a:solidFill>
                            <a:srgbClr val="101010"/>
                          </a:solidFill>
                          <a:latin typeface="Noto Sans CJK JP"/>
                        </a:rPr>
                        <a:t>拡張レイトレーシング</a:t>
                      </a:r>
                    </a:p>
                  </a:txBody>
                  <a:tcPr>
                    <a:solidFill>
                      <a:srgbClr val="FFFFFF"/>
                    </a:solidFill>
                  </a:tcPr>
                </a:tc>
                <a:tc>
                  <a:txBody>
                    <a:bodyPr wrap="square"/>
                    <a:lstStyle/>
                    <a:p>
                      <a:pPr algn="l"/>
                      <a:r>
                        <a:rPr sz="1400">
                          <a:solidFill>
                            <a:srgbClr val="101010"/>
                          </a:solidFill>
                          <a:latin typeface="Noto Sans CJK JP"/>
                        </a:rPr>
                        <a:t>完了</a:t>
                      </a:r>
                    </a:p>
                  </a:txBody>
                  <a:tcPr>
                    <a:solidFill>
                      <a:srgbClr val="FFFFFF"/>
                    </a:solidFill>
                  </a:tcPr>
                </a:tc>
                <a:tc>
                  <a:txBody>
                    <a:bodyPr wrap="square"/>
                    <a:lstStyle/>
                    <a:p>
                      <a:pPr algn="l"/>
                      <a:r>
                        <a:rPr sz="1400">
                          <a:solidFill>
                            <a:srgbClr val="101010"/>
                          </a:solidFill>
                          <a:latin typeface="Noto Sans CJK JP"/>
                        </a:rPr>
                        <a:t>(対象外)</a:t>
                      </a:r>
                    </a:p>
                  </a:txBody>
                  <a:tcPr>
                    <a:solidFill>
                      <a:srgbClr val="FFFFFF"/>
                    </a:solidFill>
                  </a:tcPr>
                </a:tc>
                <a:tc>
                  <a:txBody>
                    <a:bodyPr wrap="square"/>
                    <a:lstStyle/>
                    <a:p>
                      <a:pPr algn="l"/>
                      <a:r>
                        <a:rPr sz="1400">
                          <a:solidFill>
                            <a:srgbClr val="101010"/>
                          </a:solidFill>
                          <a:latin typeface="Noto Sans CJK JP"/>
                        </a:rPr>
                        <a:t>完了</a:t>
                      </a:r>
                    </a:p>
                  </a:txBody>
                  <a:tcPr>
                    <a:solidFill>
                      <a:srgbClr val="FFFFFF"/>
                    </a:solidFill>
                  </a:tcPr>
                </a:tc>
                <a:tc>
                  <a:txBody>
                    <a:bodyPr wrap="square"/>
                    <a:lstStyle/>
                    <a:p>
                      <a:pPr algn="l"/>
                      <a:r>
                        <a:rPr sz="1400">
                          <a:solidFill>
                            <a:srgbClr val="101010"/>
                          </a:solidFill>
                          <a:latin typeface="Noto Sans CJK JP"/>
                        </a:rPr>
                        <a:t>wr のスーパセット</a:t>
                      </a:r>
                    </a:p>
                  </a:txBody>
                  <a:tcPr>
                    <a:solidFill>
                      <a:srgbClr val="FFFFFF"/>
                    </a:solidFill>
                  </a:tcPr>
                </a:tc>
              </a:tr>
              <a:tr h="617220">
                <a:tc>
                  <a:txBody>
                    <a:bodyPr wrap="square"/>
                    <a:lstStyle/>
                    <a:p>
                      <a:pPr algn="l"/>
                      <a:r>
                        <a:rPr sz="1400">
                          <a:solidFill>
                            <a:srgbClr val="101010"/>
                          </a:solidFill>
                          <a:latin typeface="Noto Sans CJK JP"/>
                        </a:rPr>
                        <a:t>eq</a:t>
                      </a:r>
                    </a:p>
                  </a:txBody>
                  <a:tcPr>
                    <a:solidFill>
                      <a:srgbClr val="EEEEEE"/>
                    </a:solidFill>
                  </a:tcPr>
                </a:tc>
                <a:tc>
                  <a:txBody>
                    <a:bodyPr wrap="square"/>
                    <a:lstStyle/>
                    <a:p>
                      <a:pPr algn="l"/>
                      <a:r>
                        <a:rPr sz="1400">
                          <a:solidFill>
                            <a:srgbClr val="101010"/>
                          </a:solidFill>
                          <a:latin typeface="Noto Sans CJK JP"/>
                        </a:rPr>
                        <a:t>MHD 平衡</a:t>
                      </a:r>
                    </a:p>
                  </a:txBody>
                  <a:tcPr>
                    <a:solidFill>
                      <a:srgbClr val="EEEEEE"/>
                    </a:solidFill>
                  </a:tcPr>
                </a:tc>
                <a:tc>
                  <a:txBody>
                    <a:bodyPr wrap="square"/>
                    <a:lstStyle/>
                    <a:p>
                      <a:pPr algn="l"/>
                      <a:r>
                        <a:rPr sz="1400">
                          <a:solidFill>
                            <a:srgbClr val="101010"/>
                          </a:solidFill>
                          <a:latin typeface="Noto Sans CJK JP"/>
                        </a:rPr>
                        <a:t>完了</a:t>
                      </a:r>
                    </a:p>
                  </a:txBody>
                  <a:tcPr>
                    <a:solidFill>
                      <a:srgbClr val="EEEEEE"/>
                    </a:solidFill>
                  </a:tcPr>
                </a:tc>
                <a:tc>
                  <a:txBody>
                    <a:bodyPr wrap="square"/>
                    <a:lstStyle/>
                    <a:p>
                      <a:pPr algn="l"/>
                      <a:r>
                        <a:rPr sz="1400">
                          <a:solidFill>
                            <a:srgbClr val="101010"/>
                          </a:solidFill>
                          <a:latin typeface="Noto Sans CJK JP"/>
                        </a:rPr>
                        <a:t>F-1..F-5 完了</a:t>
                      </a:r>
                    </a:p>
                  </a:txBody>
                  <a:tcPr>
                    <a:solidFill>
                      <a:srgbClr val="EEEEEE"/>
                    </a:solidFill>
                  </a:tcPr>
                </a:tc>
                <a:tc>
                  <a:txBody>
                    <a:bodyPr wrap="square"/>
                    <a:lstStyle/>
                    <a:p>
                      <a:pPr algn="l"/>
                      <a:r>
                        <a:rPr sz="1400">
                          <a:solidFill>
                            <a:srgbClr val="101010"/>
                          </a:solidFill>
                          <a:latin typeface="Noto Sans CJK JP"/>
                        </a:rPr>
                        <a:t>未着手</a:t>
                      </a:r>
                    </a:p>
                  </a:txBody>
                  <a:tcPr>
                    <a:solidFill>
                      <a:srgbClr val="EEEEEE"/>
                    </a:solidFill>
                  </a:tcPr>
                </a:tc>
                <a:tc>
                  <a:txBody>
                    <a:bodyPr wrap="square"/>
                    <a:lstStyle/>
                    <a:p>
                      <a:pPr algn="l"/>
                      <a:r>
                        <a:rPr sz="1400">
                          <a:solidFill>
                            <a:srgbClr val="101010"/>
                          </a:solidFill>
                          <a:latin typeface="Noto Sans CJK JP"/>
                        </a:rPr>
                        <a:t>F90 modernization も完了</a:t>
                      </a:r>
                    </a:p>
                  </a:txBody>
                  <a:tcPr>
                    <a:solidFill>
                      <a:srgbClr val="EEEEEE"/>
                    </a:solidFill>
                  </a:tcPr>
                </a:tc>
              </a:tr>
              <a:tr h="617220">
                <a:tc>
                  <a:txBody>
                    <a:bodyPr wrap="square"/>
                    <a:lstStyle/>
                    <a:p>
                      <a:pPr algn="l"/>
                      <a:r>
                        <a:rPr sz="1400">
                          <a:solidFill>
                            <a:srgbClr val="101010"/>
                          </a:solidFill>
                          <a:latin typeface="Noto Sans CJK JP"/>
                        </a:rPr>
                        <a:t>tot</a:t>
                      </a:r>
                    </a:p>
                  </a:txBody>
                  <a:tcPr>
                    <a:solidFill>
                      <a:srgbClr val="FFFFFF"/>
                    </a:solidFill>
                  </a:tcPr>
                </a:tc>
                <a:tc>
                  <a:txBody>
                    <a:bodyPr wrap="square"/>
                    <a:lstStyle/>
                    <a:p>
                      <a:pPr algn="l"/>
                      <a:r>
                        <a:rPr sz="1400">
                          <a:solidFill>
                            <a:srgbClr val="101010"/>
                          </a:solidFill>
                          <a:latin typeface="Noto Sans CJK JP"/>
                        </a:rPr>
                        <a:t>統合輸送</a:t>
                      </a:r>
                    </a:p>
                  </a:txBody>
                  <a:tcPr>
                    <a:solidFill>
                      <a:srgbClr val="FFFFFF"/>
                    </a:solidFill>
                  </a:tcPr>
                </a:tc>
                <a:tc>
                  <a:txBody>
                    <a:bodyPr wrap="square"/>
                    <a:lstStyle/>
                    <a:p>
                      <a:pPr algn="l"/>
                      <a:r>
                        <a:rPr sz="1400">
                          <a:solidFill>
                            <a:srgbClr val="101010"/>
                          </a:solidFill>
                          <a:latin typeface="Noto Sans CJK JP"/>
                        </a:rPr>
                        <a:t>完了</a:t>
                      </a:r>
                    </a:p>
                  </a:txBody>
                  <a:tcPr>
                    <a:solidFill>
                      <a:srgbClr val="FFFFFF"/>
                    </a:solidFill>
                  </a:tcPr>
                </a:tc>
                <a:tc>
                  <a:txBody>
                    <a:bodyPr wrap="square"/>
                    <a:lstStyle/>
                    <a:p>
                      <a:pPr algn="l"/>
                      <a:r>
                        <a:rPr sz="1400">
                          <a:solidFill>
                            <a:srgbClr val="101010"/>
                          </a:solidFill>
                          <a:latin typeface="Noto Sans CJK JP"/>
                        </a:rPr>
                        <a:t>(対象外)</a:t>
                      </a:r>
                    </a:p>
                  </a:txBody>
                  <a:tcPr>
                    <a:solidFill>
                      <a:srgbClr val="FFFFFF"/>
                    </a:solidFill>
                  </a:tcPr>
                </a:tc>
                <a:tc>
                  <a:txBody>
                    <a:bodyPr wrap="square"/>
                    <a:lstStyle/>
                    <a:p>
                      <a:pPr algn="l"/>
                      <a:r>
                        <a:rPr sz="1400">
                          <a:solidFill>
                            <a:srgbClr val="101010"/>
                          </a:solidFill>
                          <a:latin typeface="Noto Sans CJK JP"/>
                        </a:rPr>
                        <a:t>完了</a:t>
                      </a:r>
                    </a:p>
                  </a:txBody>
                  <a:tcPr>
                    <a:solidFill>
                      <a:srgbClr val="FFFFFF"/>
                    </a:solidFill>
                  </a:tcPr>
                </a:tc>
                <a:tc>
                  <a:txBody>
                    <a:bodyPr wrap="square"/>
                    <a:lstStyle/>
                    <a:p>
                      <a:pPr algn="l"/>
                      <a:r>
                        <a:rPr sz="1400">
                          <a:solidFill>
                            <a:srgbClr val="101010"/>
                          </a:solidFill>
                          <a:latin typeface="Noto Sans CJK JP"/>
                        </a:rPr>
                        <a:t>namespace dispatch (eq:RR 等)</a:t>
                      </a:r>
                    </a:p>
                  </a:txBody>
                  <a:tcPr>
                    <a:solidFill>
                      <a:srgbClr val="FFFFFF"/>
                    </a:solidFill>
                  </a:tcPr>
                </a:tc>
              </a:tr>
            </a:tbl>
          </a:graphicData>
        </a:graphic>
      </p:graphicFrame>
      <p:sp>
        <p:nvSpPr>
          <p:cNvPr id="6" name="TextBox 5"/>
          <p:cNvSpPr txBox="1"/>
          <p:nvPr/>
        </p:nvSpPr>
        <p:spPr>
          <a:xfrm>
            <a:off x="457200" y="6263640"/>
            <a:ext cx="11247120" cy="457200"/>
          </a:xfrm>
          <a:prstGeom prst="rect">
            <a:avLst/>
          </a:prstGeom>
          <a:noFill/>
        </p:spPr>
        <p:txBody>
          <a:bodyPr wrap="square" lIns="36000" rIns="36000" tIns="18000" bIns="18000" anchor="t">
            <a:spAutoFit/>
          </a:bodyPr>
          <a:lstStyle/>
          <a:p>
            <a:pPr algn="l"/>
            <a:r>
              <a:rPr sz="1100" b="0">
                <a:solidFill>
                  <a:srgbClr val="555555"/>
                </a:solidFill>
                <a:latin typeface="Noto Sans CJK JP"/>
              </a:rPr>
              <a:t>凡例: 「完了」= L-0 から L-7 まで develop merged。「未着手」= follow-up PR 予定。</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アーキテクチャ全体図</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Fortran 計算本体 → C ABI → Python → MCP の 4 層構成</a:t>
            </a:r>
          </a:p>
        </p:txBody>
      </p:sp>
      <p:sp>
        <p:nvSpPr>
          <p:cNvPr id="5" name="Rounded Rectangle 4"/>
          <p:cNvSpPr/>
          <p:nvPr/>
        </p:nvSpPr>
        <p:spPr>
          <a:xfrm>
            <a:off x="365760" y="2377440"/>
            <a:ext cx="2377440" cy="1371600"/>
          </a:xfrm>
          <a:prstGeom prst="roundRect">
            <a:avLst/>
          </a:prstGeom>
          <a:solidFill>
            <a:srgbClr val="1F4E79"/>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Fortran 計算本体</a:t>
            </a:r>
          </a:p>
          <a:p>
            <a:pPr algn="ctr"/>
            <a:r>
              <a:rPr sz="1100">
                <a:solidFill>
                  <a:srgbClr val="FFFFFF"/>
                </a:solidFill>
                <a:latin typeface="Noto Sans CJK JP"/>
              </a:rPr>
              <a:t>tr / fp / ti / wr / wrx</a:t>
            </a:r>
          </a:p>
          <a:p>
            <a:pPr algn="ctr"/>
            <a:r>
              <a:rPr sz="1100">
                <a:solidFill>
                  <a:srgbClr val="FFFFFF"/>
                </a:solidFill>
                <a:latin typeface="Noto Sans CJK JP"/>
              </a:rPr>
              <a:t>/ eq / tot</a:t>
            </a:r>
          </a:p>
          <a:p>
            <a:pPr algn="ctr"/>
            <a:r>
              <a:rPr sz="1100">
                <a:solidFill>
                  <a:srgbClr val="FFFFFF"/>
                </a:solidFill>
                <a:latin typeface="Noto Sans CJK JP"/>
              </a:rPr>
              <a:t>COMMON ブロック保持</a:t>
            </a:r>
          </a:p>
        </p:txBody>
      </p:sp>
      <p:sp>
        <p:nvSpPr>
          <p:cNvPr id="6" name="Rounded Rectangle 5"/>
          <p:cNvSpPr/>
          <p:nvPr/>
        </p:nvSpPr>
        <p:spPr>
          <a:xfrm>
            <a:off x="3200400" y="2377440"/>
            <a:ext cx="2377440" cy="1371600"/>
          </a:xfrm>
          <a:prstGeom prst="roundRect">
            <a:avLst/>
          </a:prstGeom>
          <a:solidFill>
            <a:srgbClr val="2E7D32"/>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C ABI (BIND(C))</a:t>
            </a:r>
          </a:p>
          <a:p>
            <a:pPr algn="ctr"/>
            <a:r>
              <a:rPr sz="1100">
                <a:solidFill>
                  <a:srgbClr val="FFFFFF"/>
                </a:solidFill>
                <a:latin typeface="Noto Sans CJK JP"/>
              </a:rPr>
              <a:t>lib&lt;X&gt;api.so</a:t>
            </a:r>
          </a:p>
          <a:p>
            <a:pPr algn="ctr"/>
            <a:r>
              <a:rPr sz="1100">
                <a:solidFill>
                  <a:srgbClr val="FFFFFF"/>
                </a:solidFill>
                <a:latin typeface="Noto Sans CJK JP"/>
              </a:rPr>
              <a:t>5 関数 (init/set/run</a:t>
            </a:r>
          </a:p>
          <a:p>
            <a:pPr algn="ctr"/>
            <a:r>
              <a:rPr sz="1100">
                <a:solidFill>
                  <a:srgbClr val="FFFFFF"/>
                </a:solidFill>
                <a:latin typeface="Noto Sans CJK JP"/>
              </a:rPr>
              <a:t>/get_state/finalize)</a:t>
            </a:r>
          </a:p>
        </p:txBody>
      </p:sp>
      <p:sp>
        <p:nvSpPr>
          <p:cNvPr id="7" name="Rounded Rectangle 6"/>
          <p:cNvSpPr/>
          <p:nvPr/>
        </p:nvSpPr>
        <p:spPr>
          <a:xfrm>
            <a:off x="6035040" y="2377440"/>
            <a:ext cx="2377440" cy="137160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Python ラッパ</a:t>
            </a:r>
          </a:p>
          <a:p>
            <a:pPr algn="ctr"/>
            <a:r>
              <a:rPr sz="1100">
                <a:solidFill>
                  <a:srgbClr val="FFFFFF"/>
                </a:solidFill>
                <a:latin typeface="Noto Sans CJK JP"/>
              </a:rPr>
              <a:t>python/&lt;X&gt;lib/</a:t>
            </a:r>
          </a:p>
          <a:p>
            <a:pPr algn="ctr"/>
            <a:r>
              <a:rPr sz="1100">
                <a:solidFill>
                  <a:srgbClr val="FFFFFF"/>
                </a:solidFill>
                <a:latin typeface="Noto Sans CJK JP"/>
              </a:rPr>
              <a:t>ctypes + dataclass</a:t>
            </a:r>
          </a:p>
          <a:p>
            <a:pPr algn="ctr"/>
            <a:r>
              <a:rPr sz="1100">
                <a:solidFill>
                  <a:srgbClr val="FFFFFF"/>
                </a:solidFill>
                <a:latin typeface="Noto Sans CJK JP"/>
              </a:rPr>
              <a:t>例外階層 4 種</a:t>
            </a:r>
          </a:p>
        </p:txBody>
      </p:sp>
      <p:sp>
        <p:nvSpPr>
          <p:cNvPr id="8" name="Rounded Rectangle 7"/>
          <p:cNvSpPr/>
          <p:nvPr/>
        </p:nvSpPr>
        <p:spPr>
          <a:xfrm>
            <a:off x="8869680" y="2377440"/>
            <a:ext cx="2377440" cy="1371600"/>
          </a:xfrm>
          <a:prstGeom prst="roundRect">
            <a:avLst/>
          </a:prstGeom>
          <a:solidFill>
            <a:srgbClr val="6A1B9A"/>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MCP サーバ</a:t>
            </a:r>
          </a:p>
          <a:p>
            <a:pPr algn="ctr"/>
            <a:r>
              <a:rPr sz="1100">
                <a:solidFill>
                  <a:srgbClr val="FFFFFF"/>
                </a:solidFill>
                <a:latin typeface="Noto Sans CJK JP"/>
              </a:rPr>
              <a:t>python/mcp-servers/</a:t>
            </a:r>
          </a:p>
          <a:p>
            <a:pPr algn="ctr"/>
            <a:r>
              <a:rPr sz="1100">
                <a:solidFill>
                  <a:srgbClr val="FFFFFF"/>
                </a:solidFill>
                <a:latin typeface="Noto Sans CJK JP"/>
              </a:rPr>
              <a:t>&lt;X&gt;_mcp/</a:t>
            </a:r>
          </a:p>
          <a:p>
            <a:pPr algn="ctr"/>
            <a:r>
              <a:rPr sz="1100">
                <a:solidFill>
                  <a:srgbClr val="FFFFFF"/>
                </a:solidFill>
                <a:latin typeface="Noto Sans CJK JP"/>
              </a:rPr>
              <a:t>9 ツール / JSON-RPC</a:t>
            </a:r>
          </a:p>
        </p:txBody>
      </p:sp>
      <p:cxnSp>
        <p:nvCxnSpPr>
          <p:cNvPr id="9" name="Connector 8"/>
          <p:cNvCxnSpPr/>
          <p:nvPr/>
        </p:nvCxnSpPr>
        <p:spPr>
          <a:xfrm>
            <a:off x="2743200" y="3063240"/>
            <a:ext cx="45720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148840" y="283464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BIND(C, NAME=...)</a:t>
            </a:r>
          </a:p>
        </p:txBody>
      </p:sp>
      <p:cxnSp>
        <p:nvCxnSpPr>
          <p:cNvPr id="11" name="Connector 10"/>
          <p:cNvCxnSpPr/>
          <p:nvPr/>
        </p:nvCxnSpPr>
        <p:spPr>
          <a:xfrm>
            <a:off x="5577840" y="3063240"/>
            <a:ext cx="45720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83480" y="283464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ctypes (RTLD_LAZY)</a:t>
            </a:r>
          </a:p>
        </p:txBody>
      </p:sp>
      <p:cxnSp>
        <p:nvCxnSpPr>
          <p:cNvPr id="13" name="Connector 12"/>
          <p:cNvCxnSpPr/>
          <p:nvPr/>
        </p:nvCxnSpPr>
        <p:spPr>
          <a:xfrm>
            <a:off x="8412480" y="3063240"/>
            <a:ext cx="45720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18120" y="283464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FastMCP</a:t>
            </a:r>
          </a:p>
        </p:txBody>
      </p:sp>
      <p:sp>
        <p:nvSpPr>
          <p:cNvPr id="15" name="Rounded Rectangle 14"/>
          <p:cNvSpPr/>
          <p:nvPr/>
        </p:nvSpPr>
        <p:spPr>
          <a:xfrm>
            <a:off x="365760" y="4572000"/>
            <a:ext cx="2377440" cy="82296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CLI バイナリ</a:t>
            </a:r>
          </a:p>
          <a:p>
            <a:pPr algn="ctr"/>
            <a:r>
              <a:rPr sz="1000">
                <a:solidFill>
                  <a:srgbClr val="FFFFFF"/>
                </a:solidFill>
                <a:latin typeface="Noto Sans CJK JP"/>
              </a:rPr>
              <a:t>tr2 / fp / ti / ...</a:t>
            </a:r>
          </a:p>
          <a:p>
            <a:pPr algn="ctr"/>
            <a:r>
              <a:rPr sz="1000">
                <a:solidFill>
                  <a:srgbClr val="FFFFFF"/>
                </a:solidFill>
                <a:latin typeface="Noto Sans CJK JP"/>
              </a:rPr>
              <a:t>(従来どおり)</a:t>
            </a:r>
          </a:p>
        </p:txBody>
      </p:sp>
      <p:sp>
        <p:nvSpPr>
          <p:cNvPr id="16" name="Rounded Rectangle 15"/>
          <p:cNvSpPr/>
          <p:nvPr/>
        </p:nvSpPr>
        <p:spPr>
          <a:xfrm>
            <a:off x="3200400" y="4572000"/>
            <a:ext cx="2377440" cy="82296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C / C++ ホスト</a:t>
            </a:r>
          </a:p>
          <a:p>
            <a:pPr algn="ctr"/>
            <a:r>
              <a:rPr sz="1000">
                <a:solidFill>
                  <a:srgbClr val="FFFFFF"/>
                </a:solidFill>
                <a:latin typeface="Noto Sans CJK JP"/>
              </a:rPr>
              <a:t>ヘッダ &lt;X&gt;_api.h</a:t>
            </a:r>
          </a:p>
          <a:p>
            <a:pPr algn="ctr"/>
            <a:r>
              <a:rPr sz="1000">
                <a:solidFill>
                  <a:srgbClr val="FFFFFF"/>
                </a:solidFill>
                <a:latin typeface="Noto Sans CJK JP"/>
              </a:rPr>
              <a:t>を直接 include</a:t>
            </a:r>
          </a:p>
        </p:txBody>
      </p:sp>
      <p:sp>
        <p:nvSpPr>
          <p:cNvPr id="17" name="Rounded Rectangle 16"/>
          <p:cNvSpPr/>
          <p:nvPr/>
        </p:nvSpPr>
        <p:spPr>
          <a:xfrm>
            <a:off x="6035040" y="4572000"/>
            <a:ext cx="2377440" cy="82296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Python スクリプト</a:t>
            </a:r>
          </a:p>
          <a:p>
            <a:pPr algn="ctr"/>
            <a:r>
              <a:rPr sz="1000">
                <a:solidFill>
                  <a:srgbClr val="FFFFFF"/>
                </a:solidFill>
                <a:latin typeface="Noto Sans CJK JP"/>
              </a:rPr>
              <a:t>Jupyter / sweep</a:t>
            </a:r>
          </a:p>
          <a:p>
            <a:pPr algn="ctr"/>
            <a:r>
              <a:rPr sz="1000">
                <a:solidFill>
                  <a:srgbClr val="FFFFFF"/>
                </a:solidFill>
                <a:latin typeface="Noto Sans CJK JP"/>
              </a:rPr>
              <a:t>/ 最適化</a:t>
            </a:r>
          </a:p>
        </p:txBody>
      </p:sp>
      <p:sp>
        <p:nvSpPr>
          <p:cNvPr id="18" name="Rounded Rectangle 17"/>
          <p:cNvSpPr/>
          <p:nvPr/>
        </p:nvSpPr>
        <p:spPr>
          <a:xfrm>
            <a:off x="8869680" y="4572000"/>
            <a:ext cx="2377440" cy="82296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LLM クライアント</a:t>
            </a:r>
          </a:p>
          <a:p>
            <a:pPr algn="ctr"/>
            <a:r>
              <a:rPr sz="1000">
                <a:solidFill>
                  <a:srgbClr val="FFFFFF"/>
                </a:solidFill>
                <a:latin typeface="Noto Sans CJK JP"/>
              </a:rPr>
              <a:t>Claude / Cursor</a:t>
            </a:r>
          </a:p>
          <a:p>
            <a:pPr algn="ctr"/>
            <a:r>
              <a:rPr sz="1000">
                <a:solidFill>
                  <a:srgbClr val="FFFFFF"/>
                </a:solidFill>
                <a:latin typeface="Noto Sans CJK JP"/>
              </a:rPr>
              <a:t>Claude Desktop</a:t>
            </a:r>
          </a:p>
        </p:txBody>
      </p:sp>
      <p:sp>
        <p:nvSpPr>
          <p:cNvPr id="19" name="TextBox 18"/>
          <p:cNvSpPr txBox="1"/>
          <p:nvPr/>
        </p:nvSpPr>
        <p:spPr>
          <a:xfrm>
            <a:off x="365760" y="5669280"/>
            <a:ext cx="11521440" cy="822960"/>
          </a:xfrm>
          <a:prstGeom prst="rect">
            <a:avLst/>
          </a:prstGeom>
          <a:noFill/>
        </p:spPr>
        <p:txBody>
          <a:bodyPr wrap="square" lIns="36000" rIns="36000" tIns="18000" bIns="18000" anchor="t">
            <a:spAutoFit/>
          </a:bodyPr>
          <a:lstStyle/>
          <a:p>
            <a:pPr algn="l"/>
            <a:r>
              <a:rPr sz="1200" b="0">
                <a:solidFill>
                  <a:srgbClr val="555555"/>
                </a:solidFill>
                <a:latin typeface="Noto Sans CJK JP"/>
              </a:rPr>
              <a:t>色: 青=Fortran (kernel) / 緑=C ABI / オレンジ=Python / 紫=MCP / 灰=利用側エントリ。</a:t>
            </a:r>
          </a:p>
          <a:p>
            <a:pPr algn="l"/>
            <a:r>
              <a:rPr sz="1200" b="0">
                <a:solidFill>
                  <a:srgbClr val="555555"/>
                </a:solidFill>
                <a:latin typeface="Noto Sans CJK JP"/>
              </a:rPr>
              <a:t>上段が「ライブラリ層」、下段が「利用側」です。CLI バイナリは並列に維持されます。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Phase L 概要 (8 フェーズ)</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L-0 baseline から L-7 docs まで段階的に積み上げ</a:t>
            </a:r>
          </a:p>
        </p:txBody>
      </p:sp>
      <p:graphicFrame>
        <p:nvGraphicFramePr>
          <p:cNvPr id="5" name="Table 4"/>
          <p:cNvGraphicFramePr>
            <a:graphicFrameLocks noGrp="1"/>
          </p:cNvGraphicFramePr>
          <p:nvPr/>
        </p:nvGraphicFramePr>
        <p:xfrm>
          <a:off x="457200" y="1188720"/>
          <a:ext cx="11247120" cy="5029200"/>
        </p:xfrm>
        <a:graphic>
          <a:graphicData uri="http://schemas.openxmlformats.org/drawingml/2006/table">
            <a:tbl>
              <a:tblPr firstRow="1" bandRow="1">
                <a:tableStyleId>{5C22544A-7EE6-4342-B048-85BDC9FD1C3A}</a:tableStyleId>
              </a:tblPr>
              <a:tblGrid>
                <a:gridCol w="3749040"/>
                <a:gridCol w="3749040"/>
                <a:gridCol w="3749040"/>
              </a:tblGrid>
              <a:tr h="558800">
                <a:tc>
                  <a:txBody>
                    <a:bodyPr wrap="square"/>
                    <a:lstStyle/>
                    <a:p>
                      <a:pPr algn="l"/>
                      <a:r>
                        <a:rPr sz="1300" b="1">
                          <a:solidFill>
                            <a:srgbClr val="FFFFFF"/>
                          </a:solidFill>
                          <a:latin typeface="Noto Sans CJK JP"/>
                        </a:rPr>
                        <a:t>フェーズ</a:t>
                      </a:r>
                    </a:p>
                  </a:txBody>
                  <a:tcPr>
                    <a:solidFill>
                      <a:srgbClr val="0D47A1"/>
                    </a:solidFill>
                  </a:tcPr>
                </a:tc>
                <a:tc>
                  <a:txBody>
                    <a:bodyPr wrap="square"/>
                    <a:lstStyle/>
                    <a:p>
                      <a:pPr algn="l"/>
                      <a:r>
                        <a:rPr sz="1300" b="1">
                          <a:solidFill>
                            <a:srgbClr val="FFFFFF"/>
                          </a:solidFill>
                          <a:latin typeface="Noto Sans CJK JP"/>
                        </a:rPr>
                        <a:t>内容</a:t>
                      </a:r>
                    </a:p>
                  </a:txBody>
                  <a:tcPr>
                    <a:solidFill>
                      <a:srgbClr val="0D47A1"/>
                    </a:solidFill>
                  </a:tcPr>
                </a:tc>
                <a:tc>
                  <a:txBody>
                    <a:bodyPr wrap="square"/>
                    <a:lstStyle/>
                    <a:p>
                      <a:pPr algn="l"/>
                      <a:r>
                        <a:rPr sz="1300" b="1">
                          <a:solidFill>
                            <a:srgbClr val="FFFFFF"/>
                          </a:solidFill>
                          <a:latin typeface="Noto Sans CJK JP"/>
                        </a:rPr>
                        <a:t>成果物</a:t>
                      </a:r>
                    </a:p>
                  </a:txBody>
                  <a:tcPr>
                    <a:solidFill>
                      <a:srgbClr val="0D47A1"/>
                    </a:solidFill>
                  </a:tcPr>
                </a:tc>
              </a:tr>
              <a:tr h="558800">
                <a:tc>
                  <a:txBody>
                    <a:bodyPr wrap="square"/>
                    <a:lstStyle/>
                    <a:p>
                      <a:pPr algn="l"/>
                      <a:r>
                        <a:rPr sz="1300">
                          <a:solidFill>
                            <a:srgbClr val="101010"/>
                          </a:solidFill>
                          <a:latin typeface="Noto Sans CJK JP"/>
                        </a:rPr>
                        <a:t>L-0</a:t>
                      </a:r>
                    </a:p>
                  </a:txBody>
                  <a:tcPr>
                    <a:solidFill>
                      <a:srgbClr val="FFFFFF"/>
                    </a:solidFill>
                  </a:tcPr>
                </a:tc>
                <a:tc>
                  <a:txBody>
                    <a:bodyPr wrap="square"/>
                    <a:lstStyle/>
                    <a:p>
                      <a:pPr algn="l"/>
                      <a:r>
                        <a:rPr sz="1300">
                          <a:solidFill>
                            <a:srgbClr val="101010"/>
                          </a:solidFill>
                          <a:latin typeface="Noto Sans CJK JP"/>
                        </a:rPr>
                        <a:t>回帰テスト基盤 (env-guarded baseline dump)</a:t>
                      </a:r>
                    </a:p>
                  </a:txBody>
                  <a:tcPr>
                    <a:solidFill>
                      <a:srgbClr val="FFFFFF"/>
                    </a:solidFill>
                  </a:tcPr>
                </a:tc>
                <a:tc>
                  <a:txBody>
                    <a:bodyPr wrap="square"/>
                    <a:lstStyle/>
                    <a:p>
                      <a:pPr algn="l"/>
                      <a:r>
                        <a:rPr sz="1300">
                          <a:solidFill>
                            <a:srgbClr val="101010"/>
                          </a:solidFill>
                          <a:latin typeface="Noto Sans CJK JP"/>
                        </a:rPr>
                        <a:t>test_run/baselines/&lt;mod&gt;_&lt;case&gt;/</a:t>
                      </a:r>
                    </a:p>
                  </a:txBody>
                  <a:tcPr>
                    <a:solidFill>
                      <a:srgbClr val="FFFFFF"/>
                    </a:solidFill>
                  </a:tcPr>
                </a:tc>
              </a:tr>
              <a:tr h="558800">
                <a:tc>
                  <a:txBody>
                    <a:bodyPr wrap="square"/>
                    <a:lstStyle/>
                    <a:p>
                      <a:pPr algn="l"/>
                      <a:r>
                        <a:rPr sz="1300">
                          <a:solidFill>
                            <a:srgbClr val="101010"/>
                          </a:solidFill>
                          <a:latin typeface="Noto Sans CJK JP"/>
                        </a:rPr>
                        <a:t>L-1</a:t>
                      </a:r>
                    </a:p>
                  </a:txBody>
                  <a:tcPr>
                    <a:solidFill>
                      <a:srgbClr val="EEEEEE"/>
                    </a:solidFill>
                  </a:tcPr>
                </a:tc>
                <a:tc>
                  <a:txBody>
                    <a:bodyPr wrap="square"/>
                    <a:lstStyle/>
                    <a:p>
                      <a:pPr algn="l"/>
                      <a:r>
                        <a:rPr sz="1300">
                          <a:solidFill>
                            <a:srgbClr val="101010"/>
                          </a:solidFill>
                          <a:latin typeface="Noto Sans CJK JP"/>
                        </a:rPr>
                        <a:t>Makefile 分割 (CORE / GRAPHICS / MENU)</a:t>
                      </a:r>
                    </a:p>
                  </a:txBody>
                  <a:tcPr>
                    <a:solidFill>
                      <a:srgbClr val="EEEEEE"/>
                    </a:solidFill>
                  </a:tcPr>
                </a:tc>
                <a:tc>
                  <a:txBody>
                    <a:bodyPr wrap="square"/>
                    <a:lstStyle/>
                    <a:p>
                      <a:pPr algn="l"/>
                      <a:r>
                        <a:rPr sz="1300">
                          <a:solidFill>
                            <a:srgbClr val="101010"/>
                          </a:solidFill>
                          <a:latin typeface="Noto Sans CJK JP"/>
                        </a:rPr>
                        <a:t>&lt;mod&gt;/Makefile (CLI バイナリは bit 同一)</a:t>
                      </a:r>
                    </a:p>
                  </a:txBody>
                  <a:tcPr>
                    <a:solidFill>
                      <a:srgbClr val="EEEEEE"/>
                    </a:solidFill>
                  </a:tcPr>
                </a:tc>
              </a:tr>
              <a:tr h="558800">
                <a:tc>
                  <a:txBody>
                    <a:bodyPr wrap="square"/>
                    <a:lstStyle/>
                    <a:p>
                      <a:pPr algn="l"/>
                      <a:r>
                        <a:rPr sz="1300">
                          <a:solidFill>
                            <a:srgbClr val="101010"/>
                          </a:solidFill>
                          <a:latin typeface="Noto Sans CJK JP"/>
                        </a:rPr>
                        <a:t>L-2</a:t>
                      </a:r>
                    </a:p>
                  </a:txBody>
                  <a:tcPr>
                    <a:solidFill>
                      <a:srgbClr val="FFFFFF"/>
                    </a:solidFill>
                  </a:tcPr>
                </a:tc>
                <a:tc>
                  <a:txBody>
                    <a:bodyPr wrap="square"/>
                    <a:lstStyle/>
                    <a:p>
                      <a:pPr algn="l"/>
                      <a:r>
                        <a:rPr sz="1300">
                          <a:solidFill>
                            <a:srgbClr val="101010"/>
                          </a:solidFill>
                          <a:latin typeface="Noto Sans CJK JP"/>
                        </a:rPr>
                        <a:t>C ABI 雛形 (5 BIND(C) 関数 + ヘッダ)</a:t>
                      </a:r>
                    </a:p>
                  </a:txBody>
                  <a:tcPr>
                    <a:solidFill>
                      <a:srgbClr val="FFFFFF"/>
                    </a:solidFill>
                  </a:tcPr>
                </a:tc>
                <a:tc>
                  <a:txBody>
                    <a:bodyPr wrap="square"/>
                    <a:lstStyle/>
                    <a:p>
                      <a:pPr algn="l"/>
                      <a:r>
                        <a:rPr sz="1300">
                          <a:solidFill>
                            <a:srgbClr val="101010"/>
                          </a:solidFill>
                          <a:latin typeface="Noto Sans CJK JP"/>
                        </a:rPr>
                        <a:t>&lt;mod&gt;_api.f90 / &lt;mod&gt;_api.h</a:t>
                      </a:r>
                    </a:p>
                  </a:txBody>
                  <a:tcPr>
                    <a:solidFill>
                      <a:srgbClr val="FFFFFF"/>
                    </a:solidFill>
                  </a:tcPr>
                </a:tc>
              </a:tr>
              <a:tr h="558800">
                <a:tc>
                  <a:txBody>
                    <a:bodyPr wrap="square"/>
                    <a:lstStyle/>
                    <a:p>
                      <a:pPr algn="l"/>
                      <a:r>
                        <a:rPr sz="1300">
                          <a:solidFill>
                            <a:srgbClr val="101010"/>
                          </a:solidFill>
                          <a:latin typeface="Noto Sans CJK JP"/>
                        </a:rPr>
                        <a:t>L-3</a:t>
                      </a:r>
                    </a:p>
                  </a:txBody>
                  <a:tcPr>
                    <a:solidFill>
                      <a:srgbClr val="EEEEEE"/>
                    </a:solidFill>
                  </a:tcPr>
                </a:tc>
                <a:tc>
                  <a:txBody>
                    <a:bodyPr wrap="square"/>
                    <a:lstStyle/>
                    <a:p>
                      <a:pPr algn="l"/>
                      <a:r>
                        <a:rPr sz="1300">
                          <a:solidFill>
                            <a:srgbClr val="101010"/>
                          </a:solidFill>
                          <a:latin typeface="Noto Sans CJK JP"/>
                        </a:rPr>
                        <a:t>パラメータレジストリ + 実装</a:t>
                      </a:r>
                    </a:p>
                  </a:txBody>
                  <a:tcPr>
                    <a:solidFill>
                      <a:srgbClr val="EEEEEE"/>
                    </a:solidFill>
                  </a:tcPr>
                </a:tc>
                <a:tc>
                  <a:txBody>
                    <a:bodyPr wrap="square"/>
                    <a:lstStyle/>
                    <a:p>
                      <a:pPr algn="l"/>
                      <a:r>
                        <a:rPr sz="1300">
                          <a:solidFill>
                            <a:srgbClr val="101010"/>
                          </a:solidFill>
                          <a:latin typeface="Noto Sans CJK JP"/>
                        </a:rPr>
                        <a:t>&lt;mod&gt;_param_registry.f90 (~35 SELECT CASE)</a:t>
                      </a:r>
                    </a:p>
                  </a:txBody>
                  <a:tcPr>
                    <a:solidFill>
                      <a:srgbClr val="EEEEEE"/>
                    </a:solidFill>
                  </a:tcPr>
                </a:tc>
              </a:tr>
              <a:tr h="558800">
                <a:tc>
                  <a:txBody>
                    <a:bodyPr wrap="square"/>
                    <a:lstStyle/>
                    <a:p>
                      <a:pPr algn="l"/>
                      <a:r>
                        <a:rPr sz="1300">
                          <a:solidFill>
                            <a:srgbClr val="101010"/>
                          </a:solidFill>
                          <a:latin typeface="Noto Sans CJK JP"/>
                        </a:rPr>
                        <a:t>L-4</a:t>
                      </a:r>
                    </a:p>
                  </a:txBody>
                  <a:tcPr>
                    <a:solidFill>
                      <a:srgbClr val="FFFFFF"/>
                    </a:solidFill>
                  </a:tcPr>
                </a:tc>
                <a:tc>
                  <a:txBody>
                    <a:bodyPr wrap="square"/>
                    <a:lstStyle/>
                    <a:p>
                      <a:pPr algn="l"/>
                      <a:r>
                        <a:rPr sz="1300">
                          <a:solidFill>
                            <a:srgbClr val="101010"/>
                          </a:solidFill>
                          <a:latin typeface="Noto Sans CJK JP"/>
                        </a:rPr>
                        <a:t>.so 共有ライブラリビルド (PIC 化)</a:t>
                      </a:r>
                    </a:p>
                  </a:txBody>
                  <a:tcPr>
                    <a:solidFill>
                      <a:srgbClr val="FFFFFF"/>
                    </a:solidFill>
                  </a:tcPr>
                </a:tc>
                <a:tc>
                  <a:txBody>
                    <a:bodyPr wrap="square"/>
                    <a:lstStyle/>
                    <a:p>
                      <a:pPr algn="l"/>
                      <a:r>
                        <a:rPr sz="1300">
                          <a:solidFill>
                            <a:srgbClr val="101010"/>
                          </a:solidFill>
                          <a:latin typeface="Noto Sans CJK JP"/>
                        </a:rPr>
                        <a:t>&lt;mod&gt;/lib&lt;mod&gt;api.so + lib*_pic.a</a:t>
                      </a:r>
                    </a:p>
                  </a:txBody>
                  <a:tcPr>
                    <a:solidFill>
                      <a:srgbClr val="FFFFFF"/>
                    </a:solidFill>
                  </a:tcPr>
                </a:tc>
              </a:tr>
              <a:tr h="558800">
                <a:tc>
                  <a:txBody>
                    <a:bodyPr wrap="square"/>
                    <a:lstStyle/>
                    <a:p>
                      <a:pPr algn="l"/>
                      <a:r>
                        <a:rPr sz="1300">
                          <a:solidFill>
                            <a:srgbClr val="101010"/>
                          </a:solidFill>
                          <a:latin typeface="Noto Sans CJK JP"/>
                        </a:rPr>
                        <a:t>L-5</a:t>
                      </a:r>
                    </a:p>
                  </a:txBody>
                  <a:tcPr>
                    <a:solidFill>
                      <a:srgbClr val="EEEEEE"/>
                    </a:solidFill>
                  </a:tcPr>
                </a:tc>
                <a:tc>
                  <a:txBody>
                    <a:bodyPr wrap="square"/>
                    <a:lstStyle/>
                    <a:p>
                      <a:pPr algn="l"/>
                      <a:r>
                        <a:rPr sz="1300">
                          <a:solidFill>
                            <a:srgbClr val="101010"/>
                          </a:solidFill>
                          <a:latin typeface="Noto Sans CJK JP"/>
                        </a:rPr>
                        <a:t>Python ラッパ (ctypes)</a:t>
                      </a:r>
                    </a:p>
                  </a:txBody>
                  <a:tcPr>
                    <a:solidFill>
                      <a:srgbClr val="EEEEEE"/>
                    </a:solidFill>
                  </a:tcPr>
                </a:tc>
                <a:tc>
                  <a:txBody>
                    <a:bodyPr wrap="square"/>
                    <a:lstStyle/>
                    <a:p>
                      <a:pPr algn="l"/>
                      <a:r>
                        <a:rPr sz="1300">
                          <a:solidFill>
                            <a:srgbClr val="101010"/>
                          </a:solidFill>
                          <a:latin typeface="Noto Sans CJK JP"/>
                        </a:rPr>
                        <a:t>python/&lt;mod&gt;lib/ (4 ファイル + tests)</a:t>
                      </a:r>
                    </a:p>
                  </a:txBody>
                  <a:tcPr>
                    <a:solidFill>
                      <a:srgbClr val="EEEEEE"/>
                    </a:solidFill>
                  </a:tcPr>
                </a:tc>
              </a:tr>
              <a:tr h="558800">
                <a:tc>
                  <a:txBody>
                    <a:bodyPr wrap="square"/>
                    <a:lstStyle/>
                    <a:p>
                      <a:pPr algn="l"/>
                      <a:r>
                        <a:rPr sz="1300">
                          <a:solidFill>
                            <a:srgbClr val="101010"/>
                          </a:solidFill>
                          <a:latin typeface="Noto Sans CJK JP"/>
                        </a:rPr>
                        <a:t>L-6</a:t>
                      </a:r>
                    </a:p>
                  </a:txBody>
                  <a:tcPr>
                    <a:solidFill>
                      <a:srgbClr val="FFFFFF"/>
                    </a:solidFill>
                  </a:tcPr>
                </a:tc>
                <a:tc>
                  <a:txBody>
                    <a:bodyPr wrap="square"/>
                    <a:lstStyle/>
                    <a:p>
                      <a:pPr algn="l"/>
                      <a:r>
                        <a:rPr sz="1300">
                          <a:solidFill>
                            <a:srgbClr val="101010"/>
                          </a:solidFill>
                          <a:latin typeface="Noto Sans CJK JP"/>
                        </a:rPr>
                        <a:t>4 層テストスイート</a:t>
                      </a:r>
                    </a:p>
                  </a:txBody>
                  <a:tcPr>
                    <a:solidFill>
                      <a:srgbClr val="FFFFFF"/>
                    </a:solidFill>
                  </a:tcPr>
                </a:tc>
                <a:tc>
                  <a:txBody>
                    <a:bodyPr wrap="square"/>
                    <a:lstStyle/>
                    <a:p>
                      <a:pPr algn="l"/>
                      <a:r>
                        <a:rPr sz="1300">
                          <a:solidFill>
                            <a:srgbClr val="101010"/>
                          </a:solidFill>
                          <a:latin typeface="Noto Sans CJK JP"/>
                        </a:rPr>
                        <a:t>test_run/test_definitions.conf に登録</a:t>
                      </a:r>
                    </a:p>
                  </a:txBody>
                  <a:tcPr>
                    <a:solidFill>
                      <a:srgbClr val="FFFFFF"/>
                    </a:solidFill>
                  </a:tcPr>
                </a:tc>
              </a:tr>
              <a:tr h="558800">
                <a:tc>
                  <a:txBody>
                    <a:bodyPr wrap="square"/>
                    <a:lstStyle/>
                    <a:p>
                      <a:pPr algn="l"/>
                      <a:r>
                        <a:rPr sz="1300">
                          <a:solidFill>
                            <a:srgbClr val="101010"/>
                          </a:solidFill>
                          <a:latin typeface="Noto Sans CJK JP"/>
                        </a:rPr>
                        <a:t>L-7</a:t>
                      </a:r>
                    </a:p>
                  </a:txBody>
                  <a:tcPr>
                    <a:solidFill>
                      <a:srgbClr val="EEEEEE"/>
                    </a:solidFill>
                  </a:tcPr>
                </a:tc>
                <a:tc>
                  <a:txBody>
                    <a:bodyPr wrap="square"/>
                    <a:lstStyle/>
                    <a:p>
                      <a:pPr algn="l"/>
                      <a:r>
                        <a:rPr sz="1300">
                          <a:solidFill>
                            <a:srgbClr val="101010"/>
                          </a:solidFill>
                          <a:latin typeface="Noto Sans CJK JP"/>
                        </a:rPr>
                        <a:t>ユーザ向けドキュメント</a:t>
                      </a:r>
                    </a:p>
                  </a:txBody>
                  <a:tcPr>
                    <a:solidFill>
                      <a:srgbClr val="EEEEEE"/>
                    </a:solidFill>
                  </a:tcPr>
                </a:tc>
                <a:tc>
                  <a:txBody>
                    <a:bodyPr wrap="square"/>
                    <a:lstStyle/>
                    <a:p>
                      <a:pPr algn="l"/>
                      <a:r>
                        <a:rPr sz="1300">
                          <a:solidFill>
                            <a:srgbClr val="101010"/>
                          </a:solidFill>
                          <a:latin typeface="Noto Sans CJK JP"/>
                        </a:rPr>
                        <a:t>README + examples + architecture.md</a:t>
                      </a:r>
                    </a:p>
                  </a:txBody>
                  <a:tcPr>
                    <a:solidFill>
                      <a:srgbClr val="EEEEEE"/>
                    </a:solidFill>
                  </a:tcPr>
                </a:tc>
              </a:tr>
            </a:tbl>
          </a:graphicData>
        </a:graphic>
      </p:graphicFrame>
      <p:sp>
        <p:nvSpPr>
          <p:cNvPr id="6" name="TextBox 5"/>
          <p:cNvSpPr txBox="1"/>
          <p:nvPr/>
        </p:nvSpPr>
        <p:spPr>
          <a:xfrm>
            <a:off x="457200" y="6309360"/>
            <a:ext cx="11247120" cy="365760"/>
          </a:xfrm>
          <a:prstGeom prst="rect">
            <a:avLst/>
          </a:prstGeom>
          <a:noFill/>
        </p:spPr>
        <p:txBody>
          <a:bodyPr wrap="square" lIns="36000" rIns="36000" tIns="18000" bIns="18000" anchor="t">
            <a:spAutoFit/>
          </a:bodyPr>
          <a:lstStyle/>
          <a:p>
            <a:pPr algn="l"/>
            <a:r>
              <a:rPr sz="1100" b="0">
                <a:solidFill>
                  <a:srgbClr val="555555"/>
                </a:solidFill>
                <a:latin typeface="Noto Sans CJK JP"/>
              </a:rPr>
              <a:t>PR は 1 フェーズ = 1 PR 単位で merge し、各 PR で Cursor Bugbot レビュー完了を待ってから次に進みます。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Phase F: eq モジュールの F90 近代化</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F77 → F90 への段階的移行 + shim policy</a:t>
            </a:r>
          </a:p>
        </p:txBody>
      </p:sp>
      <p:sp>
        <p:nvSpPr>
          <p:cNvPr id="5" name="TextBox 4"/>
          <p:cNvSpPr txBox="1"/>
          <p:nvPr/>
        </p:nvSpPr>
        <p:spPr>
          <a:xfrm>
            <a:off x="457200" y="1188720"/>
            <a:ext cx="6858000" cy="5029200"/>
          </a:xfrm>
          <a:prstGeom prst="rect">
            <a:avLst/>
          </a:prstGeom>
          <a:noFill/>
        </p:spPr>
        <p:txBody>
          <a:bodyPr wrap="square" lIns="36000" rIns="36000" tIns="18000" bIns="18000">
            <a:spAutoFit/>
          </a:bodyPr>
          <a:lstStyle/>
          <a:p>
            <a:pPr algn="l">
              <a:spcAft>
                <a:spcPts val="600"/>
              </a:spcAft>
            </a:pPr>
            <a:r>
              <a:rPr sz="1400">
                <a:solidFill>
                  <a:srgbClr val="101010"/>
                </a:solidFill>
                <a:latin typeface="Noto Sans CJK JP"/>
              </a:rPr>
              <a:t>・ eq モジュールは F77 (.f / 固定形式) のレガシー資産が多く、ライブラリ化と並行して F90 化が必要でした。</a:t>
            </a:r>
          </a:p>
          <a:p>
            <a:pPr algn="l">
              <a:spcAft>
                <a:spcPts val="600"/>
              </a:spcAft>
            </a:pPr>
            <a:r>
              <a:rPr sz="1400">
                <a:solidFill>
                  <a:srgbClr val="101010"/>
                </a:solidFill>
                <a:latin typeface="Noto Sans CJK JP"/>
              </a:rPr>
              <a:t>・ Phase F-1: COMMON ブロックを MODULE 化 (PR #71) — shim を併設し旧コードと両立。</a:t>
            </a:r>
          </a:p>
          <a:p>
            <a:pPr algn="l">
              <a:spcAft>
                <a:spcPts val="600"/>
              </a:spcAft>
            </a:pPr>
            <a:r>
              <a:rPr sz="1400">
                <a:solidFill>
                  <a:srgbClr val="101010"/>
                </a:solidFill>
                <a:latin typeface="Noto Sans CJK JP"/>
              </a:rPr>
              <a:t>・ Phase F-2: LOW tier (PR #79) — 単純な .f を .f90 に書き換え、INCLUDE 由来の COMMON を USE に置換。</a:t>
            </a:r>
          </a:p>
          <a:p>
            <a:pPr algn="l">
              <a:spcAft>
                <a:spcPts val="600"/>
              </a:spcAft>
            </a:pPr>
            <a:r>
              <a:rPr sz="1400">
                <a:solidFill>
                  <a:srgbClr val="101010"/>
                </a:solidFill>
                <a:latin typeface="Noto Sans CJK JP"/>
              </a:rPr>
              <a:t>・ Phase F-3: MED tier (PR #81) — INCLUDE shim 経由で段階的に置換 (9 ファイル)。</a:t>
            </a:r>
          </a:p>
          <a:p>
            <a:pPr algn="l">
              <a:spcAft>
                <a:spcPts val="600"/>
              </a:spcAft>
            </a:pPr>
            <a:r>
              <a:rPr sz="1400">
                <a:solidFill>
                  <a:srgbClr val="101010"/>
                </a:solidFill>
                <a:latin typeface="Noto Sans CJK JP"/>
              </a:rPr>
              <a:t>・ Phase F-4: HIGH tier (PR #87) — file I/O や driver の F90 化 (8 ファイル)。</a:t>
            </a:r>
          </a:p>
          <a:p>
            <a:pPr algn="l">
              <a:spcAft>
                <a:spcPts val="600"/>
              </a:spcAft>
            </a:pPr>
            <a:r>
              <a:rPr sz="1400">
                <a:solidFill>
                  <a:srgbClr val="101010"/>
                </a:solidFill>
                <a:latin typeface="Noto Sans CJK JP"/>
              </a:rPr>
              <a:t>・ Phase F-5: shim removal (PR #93) — eqcom{c,m,q,x}.inc 撤去 + grep clean。</a:t>
            </a:r>
          </a:p>
          <a:p>
            <a:pPr algn="l">
              <a:spcAft>
                <a:spcPts val="600"/>
              </a:spcAft>
            </a:pPr>
            <a:r>
              <a:rPr sz="1400">
                <a:solidFill>
                  <a:srgbClr val="101010"/>
                </a:solidFill>
                <a:latin typeface="Noto Sans CJK JP"/>
              </a:rPr>
              <a:t>・ shim policy: 一時的に COMMON↔MODULE 両方を有効化し、grep ゼロ確認後に撤去します。</a:t>
            </a:r>
          </a:p>
        </p:txBody>
      </p:sp>
      <p:sp>
        <p:nvSpPr>
          <p:cNvPr id="6" name="Rounded Rectangle 5"/>
          <p:cNvSpPr/>
          <p:nvPr/>
        </p:nvSpPr>
        <p:spPr>
          <a:xfrm>
            <a:off x="7680960" y="1463040"/>
            <a:ext cx="4023360" cy="731520"/>
          </a:xfrm>
          <a:prstGeom prst="roundRect">
            <a:avLst/>
          </a:prstGeom>
          <a:solidFill>
            <a:srgbClr val="1B5E2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Phase F-1  (完了)</a:t>
            </a:r>
          </a:p>
          <a:p>
            <a:pPr algn="ctr"/>
            <a:r>
              <a:rPr sz="1000">
                <a:solidFill>
                  <a:srgbClr val="FFFFFF"/>
                </a:solidFill>
                <a:latin typeface="Noto Sans CJK JP"/>
              </a:rPr>
              <a:t>COMMON→MODULE</a:t>
            </a:r>
          </a:p>
        </p:txBody>
      </p:sp>
      <p:sp>
        <p:nvSpPr>
          <p:cNvPr id="7" name="Rounded Rectangle 6"/>
          <p:cNvSpPr/>
          <p:nvPr/>
        </p:nvSpPr>
        <p:spPr>
          <a:xfrm>
            <a:off x="7680960" y="2331720"/>
            <a:ext cx="4023360" cy="731520"/>
          </a:xfrm>
          <a:prstGeom prst="roundRect">
            <a:avLst/>
          </a:prstGeom>
          <a:solidFill>
            <a:srgbClr val="1B5E2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Phase F-2  (完了)</a:t>
            </a:r>
          </a:p>
          <a:p>
            <a:pPr algn="ctr"/>
            <a:r>
              <a:rPr sz="1000">
                <a:solidFill>
                  <a:srgbClr val="FFFFFF"/>
                </a:solidFill>
                <a:latin typeface="Noto Sans CJK JP"/>
              </a:rPr>
              <a:t>LOW tier .f→.f90</a:t>
            </a:r>
          </a:p>
        </p:txBody>
      </p:sp>
      <p:sp>
        <p:nvSpPr>
          <p:cNvPr id="8" name="Rounded Rectangle 7"/>
          <p:cNvSpPr/>
          <p:nvPr/>
        </p:nvSpPr>
        <p:spPr>
          <a:xfrm>
            <a:off x="7680960" y="3200400"/>
            <a:ext cx="4023360" cy="731520"/>
          </a:xfrm>
          <a:prstGeom prst="roundRect">
            <a:avLst/>
          </a:prstGeom>
          <a:solidFill>
            <a:srgbClr val="1B5E2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Phase F-3  (完了)</a:t>
            </a:r>
          </a:p>
          <a:p>
            <a:pPr algn="ctr"/>
            <a:r>
              <a:rPr sz="1000">
                <a:solidFill>
                  <a:srgbClr val="FFFFFF"/>
                </a:solidFill>
                <a:latin typeface="Noto Sans CJK JP"/>
              </a:rPr>
              <a:t>MED tier (INCLUDE shim)</a:t>
            </a:r>
          </a:p>
        </p:txBody>
      </p:sp>
      <p:sp>
        <p:nvSpPr>
          <p:cNvPr id="9" name="Rounded Rectangle 8"/>
          <p:cNvSpPr/>
          <p:nvPr/>
        </p:nvSpPr>
        <p:spPr>
          <a:xfrm>
            <a:off x="7680960" y="4069079"/>
            <a:ext cx="4023360" cy="73152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Phase F-4  (残作業)</a:t>
            </a:r>
          </a:p>
          <a:p>
            <a:pPr algn="ctr"/>
            <a:r>
              <a:rPr sz="1000">
                <a:solidFill>
                  <a:srgbClr val="FFFFFF"/>
                </a:solidFill>
                <a:latin typeface="Noto Sans CJK JP"/>
              </a:rPr>
              <a:t>HIGH tier (driver)</a:t>
            </a:r>
          </a:p>
        </p:txBody>
      </p:sp>
      <p:sp>
        <p:nvSpPr>
          <p:cNvPr id="10" name="Rounded Rectangle 9"/>
          <p:cNvSpPr/>
          <p:nvPr/>
        </p:nvSpPr>
        <p:spPr>
          <a:xfrm>
            <a:off x="7680960" y="4937760"/>
            <a:ext cx="4023360" cy="73152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Phase F-5  (残作業)</a:t>
            </a:r>
          </a:p>
          <a:p>
            <a:pPr algn="ctr"/>
            <a:r>
              <a:rPr sz="1000">
                <a:solidFill>
                  <a:srgbClr val="FFFFFF"/>
                </a:solidFill>
                <a:latin typeface="Noto Sans CJK JP"/>
              </a:rPr>
              <a:t>shim removal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テスト戦略: 4 層構成</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Layer 1 〜 4 を test_run/test_definitions.conf に登録</a:t>
            </a:r>
          </a:p>
        </p:txBody>
      </p:sp>
      <p:sp>
        <p:nvSpPr>
          <p:cNvPr id="5" name="Rounded Rectangle 4"/>
          <p:cNvSpPr/>
          <p:nvPr/>
        </p:nvSpPr>
        <p:spPr>
          <a:xfrm>
            <a:off x="365760" y="1371600"/>
            <a:ext cx="2697480" cy="2286000"/>
          </a:xfrm>
          <a:prstGeom prst="roundRect">
            <a:avLst/>
          </a:prstGeom>
          <a:solidFill>
            <a:srgbClr val="C62828"/>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Layer 1
等価性テスト</a:t>
            </a:r>
          </a:p>
          <a:p>
            <a:pPr algn="ctr"/>
            <a:r>
              <a:rPr sz="1100">
                <a:solidFill>
                  <a:srgbClr val="FFFFFF"/>
                </a:solidFill>
                <a:latin typeface="Noto Sans CJK JP"/>
              </a:rPr>
              <a:t>Phase 0 baseline と比較</a:t>
            </a:r>
          </a:p>
          <a:p>
            <a:pPr algn="ctr"/>
            <a:r>
              <a:rPr sz="1100">
                <a:solidFill>
                  <a:srgbClr val="FFFFFF"/>
                </a:solidFill>
                <a:latin typeface="Noto Sans CJK JP"/>
              </a:rPr>
              <a:t>許容差 1e-10</a:t>
            </a:r>
          </a:p>
          <a:p>
            <a:pPr algn="ctr"/>
            <a:r>
              <a:rPr sz="1100">
                <a:solidFill>
                  <a:srgbClr val="FFFFFF"/>
                </a:solidFill>
                <a:latin typeface="Noto Sans CJK JP"/>
              </a:rPr>
              <a:t>例: trlib_equivalence</a:t>
            </a:r>
          </a:p>
        </p:txBody>
      </p:sp>
      <p:sp>
        <p:nvSpPr>
          <p:cNvPr id="6" name="Rounded Rectangle 5"/>
          <p:cNvSpPr/>
          <p:nvPr/>
        </p:nvSpPr>
        <p:spPr>
          <a:xfrm>
            <a:off x="3246120" y="1371600"/>
            <a:ext cx="2697480" cy="2286000"/>
          </a:xfrm>
          <a:prstGeom prst="roundRect">
            <a:avLst/>
          </a:prstGeom>
          <a:solidFill>
            <a:srgbClr val="2E7D32"/>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Layer 2
C ABI テスト</a:t>
            </a:r>
          </a:p>
          <a:p>
            <a:pPr algn="ctr"/>
            <a:r>
              <a:rPr sz="1100">
                <a:solidFill>
                  <a:srgbClr val="FFFFFF"/>
                </a:solidFill>
                <a:latin typeface="Noto Sans CJK JP"/>
              </a:rPr>
              <a:t>make -C &lt;mod&gt; &lt;mod&gt;_api_check_all</a:t>
            </a:r>
          </a:p>
          <a:p>
            <a:pPr algn="ctr"/>
            <a:r>
              <a:rPr sz="1100">
                <a:solidFill>
                  <a:srgbClr val="FFFFFF"/>
                </a:solidFill>
                <a:latin typeface="Noto Sans CJK JP"/>
              </a:rPr>
              <a:t>C 側スモーク + 異常系</a:t>
            </a:r>
          </a:p>
          <a:p>
            <a:pPr algn="ctr"/>
            <a:r>
              <a:rPr sz="1100">
                <a:solidFill>
                  <a:srgbClr val="FFFFFF"/>
                </a:solidFill>
                <a:latin typeface="Noto Sans CJK JP"/>
              </a:rPr>
              <a:t>例: trlib_c_abi</a:t>
            </a:r>
          </a:p>
        </p:txBody>
      </p:sp>
      <p:sp>
        <p:nvSpPr>
          <p:cNvPr id="7" name="Rounded Rectangle 6"/>
          <p:cNvSpPr/>
          <p:nvPr/>
        </p:nvSpPr>
        <p:spPr>
          <a:xfrm>
            <a:off x="6126480" y="1371600"/>
            <a:ext cx="2697480" cy="228600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Layer 3
Python ラッパテスト</a:t>
            </a:r>
          </a:p>
          <a:p>
            <a:pPr algn="ctr"/>
            <a:r>
              <a:rPr sz="1100">
                <a:solidFill>
                  <a:srgbClr val="FFFFFF"/>
                </a:solidFill>
                <a:latin typeface="Noto Sans CJK JP"/>
              </a:rPr>
              <a:t>unittest discover</a:t>
            </a:r>
          </a:p>
          <a:p>
            <a:pPr algn="ctr"/>
            <a:r>
              <a:rPr sz="1100">
                <a:solidFill>
                  <a:srgbClr val="FFFFFF"/>
                </a:solidFill>
                <a:latin typeface="Noto Sans CJK JP"/>
              </a:rPr>
              <a:t>ctypes 配置 / 例外階層</a:t>
            </a:r>
          </a:p>
          <a:p>
            <a:pPr algn="ctr"/>
            <a:r>
              <a:rPr sz="1100">
                <a:solidFill>
                  <a:srgbClr val="FFFFFF"/>
                </a:solidFill>
                <a:latin typeface="Noto Sans CJK JP"/>
              </a:rPr>
              <a:t>例: trlib_ffi / trlib_wrapper</a:t>
            </a:r>
          </a:p>
        </p:txBody>
      </p:sp>
      <p:sp>
        <p:nvSpPr>
          <p:cNvPr id="8" name="Rounded Rectangle 7"/>
          <p:cNvSpPr/>
          <p:nvPr/>
        </p:nvSpPr>
        <p:spPr>
          <a:xfrm>
            <a:off x="9006840" y="1371600"/>
            <a:ext cx="2697480" cy="2286000"/>
          </a:xfrm>
          <a:prstGeom prst="roundRect">
            <a:avLst/>
          </a:prstGeom>
          <a:solidFill>
            <a:srgbClr val="6A1B9A"/>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Layer 4
スイープテスト</a:t>
            </a:r>
          </a:p>
          <a:p>
            <a:pPr algn="ctr"/>
            <a:r>
              <a:rPr sz="1100">
                <a:solidFill>
                  <a:srgbClr val="FFFFFF"/>
                </a:solidFill>
                <a:latin typeface="Noto Sans CJK JP"/>
              </a:rPr>
              <a:t>3×3 グリッド (RR×BB)</a:t>
            </a:r>
          </a:p>
          <a:p>
            <a:pPr algn="ctr"/>
            <a:r>
              <a:rPr sz="1100">
                <a:solidFill>
                  <a:srgbClr val="FFFFFF"/>
                </a:solidFill>
                <a:latin typeface="Noto Sans CJK JP"/>
              </a:rPr>
              <a:t>NaN 検知 + 完走確認</a:t>
            </a:r>
          </a:p>
          <a:p>
            <a:pPr algn="ctr"/>
            <a:r>
              <a:rPr sz="1100">
                <a:solidFill>
                  <a:srgbClr val="FFFFFF"/>
                </a:solidFill>
                <a:latin typeface="Noto Sans CJK JP"/>
              </a:rPr>
              <a:t>例: trlib_sweep</a:t>
            </a:r>
          </a:p>
        </p:txBody>
      </p:sp>
      <p:cxnSp>
        <p:nvCxnSpPr>
          <p:cNvPr id="9" name="Connector 8"/>
          <p:cNvCxnSpPr/>
          <p:nvPr/>
        </p:nvCxnSpPr>
        <p:spPr>
          <a:xfrm>
            <a:off x="3063240" y="2514600"/>
            <a:ext cx="18288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43600" y="2514600"/>
            <a:ext cx="18288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823960" y="2514600"/>
            <a:ext cx="18288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65760" y="4023360"/>
            <a:ext cx="11338560" cy="640080"/>
          </a:xfrm>
          <a:prstGeom prst="roundRect">
            <a:avLst/>
          </a:prstGeom>
          <a:solidFill>
            <a:srgbClr val="0D47A1"/>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test_run/test_definitions.conf に &lt;mod&gt;lib_equivalence / _c_abi / _ffi / _wrapper / _sweep を登録</a:t>
            </a:r>
          </a:p>
        </p:txBody>
      </p:sp>
      <p:sp>
        <p:nvSpPr>
          <p:cNvPr id="13" name="Rounded Rectangle 12"/>
          <p:cNvSpPr/>
          <p:nvPr/>
        </p:nvSpPr>
        <p:spPr>
          <a:xfrm>
            <a:off x="365760" y="4846320"/>
            <a:ext cx="11338560" cy="64008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300" b="1">
                <a:solidFill>
                  <a:srgbClr val="FFFFFF"/>
                </a:solidFill>
                <a:latin typeface="Noto Sans CJK JP"/>
              </a:rPr>
              <a:t>tools/compare_metrics.py で baseline vs library 出力を JSON 比較</a:t>
            </a:r>
          </a:p>
        </p:txBody>
      </p:sp>
      <p:sp>
        <p:nvSpPr>
          <p:cNvPr id="14" name="TextBox 13"/>
          <p:cNvSpPr txBox="1"/>
          <p:nvPr/>
        </p:nvSpPr>
        <p:spPr>
          <a:xfrm>
            <a:off x="365760" y="5669280"/>
            <a:ext cx="11338560" cy="914400"/>
          </a:xfrm>
          <a:prstGeom prst="rect">
            <a:avLst/>
          </a:prstGeom>
          <a:noFill/>
        </p:spPr>
        <p:txBody>
          <a:bodyPr wrap="square" lIns="36000" rIns="36000" tIns="18000" bIns="18000" anchor="t">
            <a:spAutoFit/>
          </a:bodyPr>
          <a:lstStyle/>
          <a:p>
            <a:pPr algn="l"/>
            <a:r>
              <a:rPr sz="1200" b="0">
                <a:solidFill>
                  <a:srgbClr val="555555"/>
                </a:solidFill>
                <a:latin typeface="Noto Sans CJK JP"/>
              </a:rPr>
              <a:t>ポイント: Layer 1 で「数値が変わっていないこと」を担保した上で、上位層で API 安全性を順次確認。</a:t>
            </a:r>
          </a:p>
          <a:p>
            <a:pPr algn="l"/>
            <a:r>
              <a:rPr sz="1200" b="0">
                <a:solidFill>
                  <a:srgbClr val="555555"/>
                </a:solidFill>
                <a:latin typeface="Noto Sans CJK JP"/>
              </a:rPr>
              <a:t>tr_m0904 のように元コードが ~1e-8 で揺らぐケースは baseline を pin する運用にしています。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使い方 1: Python ライブラリの hello world</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5 行で TR シミュレーションを起動</a:t>
            </a:r>
          </a:p>
        </p:txBody>
      </p:sp>
      <p:sp>
        <p:nvSpPr>
          <p:cNvPr id="5" name="Rectangle 4"/>
          <p:cNvSpPr/>
          <p:nvPr/>
        </p:nvSpPr>
        <p:spPr>
          <a:xfrm>
            <a:off x="365760" y="1188720"/>
            <a:ext cx="6400800" cy="320040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500" b="1">
                <a:solidFill>
                  <a:srgbClr val="555555"/>
                </a:solidFill>
                <a:latin typeface="Noto Sans CJK JP"/>
              </a:rPr>
              <a:t>quickstart.py 抜粋</a:t>
            </a:r>
          </a:p>
          <a:p>
            <a:r>
              <a:rPr sz="1400">
                <a:solidFill>
                  <a:srgbClr val="101010"/>
                </a:solidFill>
                <a:latin typeface="DejaVu Sans Mono"/>
              </a:rPr>
              <a:t>from trlib import Trlib</a:t>
            </a:r>
          </a:p>
          <a:p>
            <a:r>
              <a:rPr sz="1400">
                <a:solidFill>
                  <a:srgbClr val="101010"/>
                </a:solidFill>
                <a:latin typeface="DejaVu Sans Mono"/>
              </a:rPr>
              <a:t> </a:t>
            </a:r>
          </a:p>
          <a:p>
            <a:r>
              <a:rPr sz="1400">
                <a:solidFill>
                  <a:srgbClr val="101010"/>
                </a:solidFill>
                <a:latin typeface="DejaVu Sans Mono"/>
              </a:rPr>
              <a:t>with Trlib() as tr:</a:t>
            </a:r>
          </a:p>
          <a:p>
            <a:r>
              <a:rPr sz="1400">
                <a:solidFill>
                  <a:srgbClr val="101010"/>
                </a:solidFill>
                <a:latin typeface="DejaVu Sans Mono"/>
              </a:rPr>
              <a:t>    tr.set_params(RR=8.5, RA=2.0, BB=5.3, NSMAX=2, DT=0.1)</a:t>
            </a:r>
          </a:p>
          <a:p>
            <a:r>
              <a:rPr sz="1400">
                <a:solidFill>
                  <a:srgbClr val="101010"/>
                </a:solidFill>
                <a:latin typeface="DejaVu Sans Mono"/>
              </a:rPr>
              <a:t>    tr.run(ntmax=50)</a:t>
            </a:r>
          </a:p>
          <a:p>
            <a:r>
              <a:rPr sz="1400">
                <a:solidFill>
                  <a:srgbClr val="101010"/>
                </a:solidFill>
                <a:latin typeface="DejaVu Sans Mono"/>
              </a:rPr>
              <a:t>    state = tr.get_state()</a:t>
            </a:r>
          </a:p>
          <a:p>
            <a:r>
              <a:rPr sz="1400">
                <a:solidFill>
                  <a:srgbClr val="101010"/>
                </a:solidFill>
                <a:latin typeface="DejaVu Sans Mono"/>
              </a:rPr>
              <a:t> </a:t>
            </a:r>
          </a:p>
          <a:p>
            <a:r>
              <a:rPr sz="1400">
                <a:solidFill>
                  <a:srgbClr val="101010"/>
                </a:solidFill>
                <a:latin typeface="DejaVu Sans Mono"/>
              </a:rPr>
              <a:t>print(state.scalars['T'], state.scalars['WPT'])</a:t>
            </a:r>
          </a:p>
        </p:txBody>
      </p:sp>
      <p:sp>
        <p:nvSpPr>
          <p:cNvPr id="6" name="Rounded Rectangle 5"/>
          <p:cNvSpPr/>
          <p:nvPr/>
        </p:nvSpPr>
        <p:spPr>
          <a:xfrm>
            <a:off x="7040880" y="1188720"/>
            <a:ext cx="4754880" cy="77724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init</a:t>
            </a:r>
          </a:p>
          <a:p>
            <a:pPr algn="ctr"/>
            <a:r>
              <a:rPr sz="1100">
                <a:solidFill>
                  <a:srgbClr val="FFFFFF"/>
                </a:solidFill>
                <a:latin typeface="Noto Sans CJK JP"/>
              </a:rPr>
              <a:t>with Trlib() as tr</a:t>
            </a:r>
          </a:p>
        </p:txBody>
      </p:sp>
      <p:sp>
        <p:nvSpPr>
          <p:cNvPr id="7" name="Rounded Rectangle 6"/>
          <p:cNvSpPr/>
          <p:nvPr/>
        </p:nvSpPr>
        <p:spPr>
          <a:xfrm>
            <a:off x="7040880" y="2148840"/>
            <a:ext cx="4754880" cy="77724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set_param</a:t>
            </a:r>
          </a:p>
          <a:p>
            <a:pPr algn="ctr"/>
            <a:r>
              <a:rPr sz="1100">
                <a:solidFill>
                  <a:srgbClr val="FFFFFF"/>
                </a:solidFill>
                <a:latin typeface="Noto Sans CJK JP"/>
              </a:rPr>
              <a:t>tr.set_params(RR=..., BB=...)</a:t>
            </a:r>
          </a:p>
        </p:txBody>
      </p:sp>
      <p:sp>
        <p:nvSpPr>
          <p:cNvPr id="8" name="Rounded Rectangle 7"/>
          <p:cNvSpPr/>
          <p:nvPr/>
        </p:nvSpPr>
        <p:spPr>
          <a:xfrm>
            <a:off x="7040880" y="3108960"/>
            <a:ext cx="4754880" cy="77724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run</a:t>
            </a:r>
          </a:p>
          <a:p>
            <a:pPr algn="ctr"/>
            <a:r>
              <a:rPr sz="1100">
                <a:solidFill>
                  <a:srgbClr val="FFFFFF"/>
                </a:solidFill>
                <a:latin typeface="Noto Sans CJK JP"/>
              </a:rPr>
              <a:t>tr.run(ntmax=50)</a:t>
            </a:r>
          </a:p>
        </p:txBody>
      </p:sp>
      <p:sp>
        <p:nvSpPr>
          <p:cNvPr id="9" name="Rounded Rectangle 8"/>
          <p:cNvSpPr/>
          <p:nvPr/>
        </p:nvSpPr>
        <p:spPr>
          <a:xfrm>
            <a:off x="7040880" y="4069080"/>
            <a:ext cx="4754880" cy="77724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get_state</a:t>
            </a:r>
          </a:p>
          <a:p>
            <a:pPr algn="ctr"/>
            <a:r>
              <a:rPr sz="1100">
                <a:solidFill>
                  <a:srgbClr val="FFFFFF"/>
                </a:solidFill>
                <a:latin typeface="Noto Sans CJK JP"/>
              </a:rPr>
              <a:t>state = tr.get_state()</a:t>
            </a:r>
          </a:p>
        </p:txBody>
      </p:sp>
      <p:sp>
        <p:nvSpPr>
          <p:cNvPr id="10" name="Rounded Rectangle 9"/>
          <p:cNvSpPr/>
          <p:nvPr/>
        </p:nvSpPr>
        <p:spPr>
          <a:xfrm>
            <a:off x="7040880" y="5029200"/>
            <a:ext cx="4754880" cy="77724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close</a:t>
            </a:r>
          </a:p>
          <a:p>
            <a:pPr algn="ctr"/>
            <a:r>
              <a:rPr sz="1100">
                <a:solidFill>
                  <a:srgbClr val="FFFFFF"/>
                </a:solidFill>
                <a:latin typeface="Noto Sans CJK JP"/>
              </a:rPr>
              <a:t>(context manager)</a:t>
            </a:r>
          </a:p>
        </p:txBody>
      </p:sp>
      <p:cxnSp>
        <p:nvCxnSpPr>
          <p:cNvPr id="11" name="Connector 10"/>
          <p:cNvCxnSpPr/>
          <p:nvPr/>
        </p:nvCxnSpPr>
        <p:spPr>
          <a:xfrm>
            <a:off x="9418320" y="1965960"/>
            <a:ext cx="0" cy="18288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18320" y="2926080"/>
            <a:ext cx="0" cy="18288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8320" y="3886200"/>
            <a:ext cx="0" cy="18288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8320" y="4846320"/>
            <a:ext cx="0" cy="18288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5760" y="4572000"/>
            <a:ext cx="6400800" cy="1828800"/>
          </a:xfrm>
          <a:prstGeom prst="rect">
            <a:avLst/>
          </a:prstGeom>
          <a:noFill/>
        </p:spPr>
        <p:txBody>
          <a:bodyPr wrap="square" lIns="36000" rIns="36000" tIns="18000" bIns="18000" anchor="t">
            <a:spAutoFit/>
          </a:bodyPr>
          <a:lstStyle/>
          <a:p>
            <a:pPr algn="l"/>
            <a:r>
              <a:rPr sz="1300" b="0">
                <a:solidFill>
                  <a:srgbClr val="101010"/>
                </a:solidFill>
                <a:latin typeface="Noto Sans CJK JP"/>
              </a:rPr>
              <a:t>ポイント:</a:t>
            </a:r>
          </a:p>
          <a:p>
            <a:pPr algn="l"/>
            <a:r>
              <a:rPr sz="1300" b="0">
                <a:solidFill>
                  <a:srgbClr val="101010"/>
                </a:solidFill>
                <a:latin typeface="Noto Sans CJK JP"/>
              </a:rPr>
              <a:t>・ コンテキストマネージャで init / finalize を自動管理。</a:t>
            </a:r>
          </a:p>
          <a:p>
            <a:pPr algn="l"/>
            <a:r>
              <a:rPr sz="1300" b="0">
                <a:solidFill>
                  <a:srgbClr val="101010"/>
                </a:solidFill>
                <a:latin typeface="Noto Sans CJK JP"/>
              </a:rPr>
              <a:t>・ 配列要素は set_param('PN[1]', 1.0) のように 1-origin で指定。</a:t>
            </a:r>
          </a:p>
          <a:p>
            <a:pPr algn="l"/>
            <a:r>
              <a:rPr sz="1300" b="0">
                <a:solidFill>
                  <a:srgbClr val="101010"/>
                </a:solidFill>
                <a:latin typeface="Noto Sans CJK JP"/>
              </a:rPr>
              <a:t>・ 例外階層 (TrlibParamError 等) で ierr=1〜4 をマップ。</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使い方 2: TOML config runner (今後)</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python -m trlib config.toml で計算 + プロットを一気通貫</a:t>
            </a:r>
          </a:p>
        </p:txBody>
      </p:sp>
      <p:sp>
        <p:nvSpPr>
          <p:cNvPr id="5" name="Rounded Rectangle 4"/>
          <p:cNvSpPr/>
          <p:nvPr/>
        </p:nvSpPr>
        <p:spPr>
          <a:xfrm>
            <a:off x="365760" y="2286000"/>
            <a:ext cx="3108960" cy="1463040"/>
          </a:xfrm>
          <a:prstGeom prst="roundRect">
            <a:avLst/>
          </a:prstGeom>
          <a:solidFill>
            <a:srgbClr val="00697C"/>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1. TOML ファイル</a:t>
            </a:r>
          </a:p>
          <a:p>
            <a:pPr algn="ctr"/>
            <a:r>
              <a:rPr sz="1200">
                <a:solidFill>
                  <a:srgbClr val="FFFFFF"/>
                </a:solidFill>
                <a:latin typeface="Noto Sans CJK JP"/>
              </a:rPr>
              <a:t>iter01.toml</a:t>
            </a:r>
          </a:p>
          <a:p>
            <a:pPr algn="ctr"/>
            <a:r>
              <a:rPr sz="1200">
                <a:solidFill>
                  <a:srgbClr val="FFFFFF"/>
                </a:solidFill>
                <a:latin typeface="Noto Sans CJK JP"/>
              </a:rPr>
              <a:t>[geometry] [plasma]</a:t>
            </a:r>
          </a:p>
          <a:p>
            <a:pPr algn="ctr"/>
            <a:r>
              <a:rPr sz="1200">
                <a:solidFill>
                  <a:srgbClr val="FFFFFF"/>
                </a:solidFill>
                <a:latin typeface="Noto Sans CJK JP"/>
              </a:rPr>
              <a:t>[run] [plot]</a:t>
            </a:r>
          </a:p>
        </p:txBody>
      </p:sp>
      <p:sp>
        <p:nvSpPr>
          <p:cNvPr id="6" name="Rounded Rectangle 5"/>
          <p:cNvSpPr/>
          <p:nvPr/>
        </p:nvSpPr>
        <p:spPr>
          <a:xfrm>
            <a:off x="4526280" y="2286000"/>
            <a:ext cx="3108960" cy="146304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2. ライブラリ実行</a:t>
            </a:r>
          </a:p>
          <a:p>
            <a:pPr algn="ctr"/>
            <a:r>
              <a:rPr sz="1200">
                <a:solidFill>
                  <a:srgbClr val="FFFFFF"/>
                </a:solidFill>
                <a:latin typeface="Noto Sans CJK JP"/>
              </a:rPr>
              <a:t>python -m trlib</a:t>
            </a:r>
          </a:p>
          <a:p>
            <a:pPr algn="ctr"/>
            <a:r>
              <a:rPr sz="1200">
                <a:solidFill>
                  <a:srgbClr val="FFFFFF"/>
                </a:solidFill>
                <a:latin typeface="Noto Sans CJK JP"/>
              </a:rPr>
              <a:t>config.toml</a:t>
            </a:r>
          </a:p>
          <a:p>
            <a:pPr algn="ctr"/>
            <a:r>
              <a:rPr sz="1200">
                <a:solidFill>
                  <a:srgbClr val="FFFFFF"/>
                </a:solidFill>
                <a:latin typeface="Noto Sans CJK JP"/>
              </a:rPr>
              <a:t>→ Trlib + set + run</a:t>
            </a:r>
          </a:p>
        </p:txBody>
      </p:sp>
      <p:sp>
        <p:nvSpPr>
          <p:cNvPr id="7" name="Rounded Rectangle 6"/>
          <p:cNvSpPr/>
          <p:nvPr/>
        </p:nvSpPr>
        <p:spPr>
          <a:xfrm>
            <a:off x="8686800" y="2286000"/>
            <a:ext cx="3108960" cy="1463040"/>
          </a:xfrm>
          <a:prstGeom prst="roundRect">
            <a:avLst/>
          </a:prstGeom>
          <a:solidFill>
            <a:srgbClr val="1B5E2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3. プロット生成</a:t>
            </a:r>
          </a:p>
          <a:p>
            <a:pPr algn="ctr"/>
            <a:r>
              <a:rPr sz="1200">
                <a:solidFill>
                  <a:srgbClr val="FFFFFF"/>
                </a:solidFill>
                <a:latin typeface="Noto Sans CJK JP"/>
              </a:rPr>
              <a:t>tr.plot('RN')</a:t>
            </a:r>
          </a:p>
          <a:p>
            <a:pPr algn="ctr"/>
            <a:r>
              <a:rPr sz="1200">
                <a:solidFill>
                  <a:srgbClr val="FFFFFF"/>
                </a:solidFill>
                <a:latin typeface="Noto Sans CJK JP"/>
              </a:rPr>
              <a:t>結果を PNG / PDF</a:t>
            </a:r>
          </a:p>
          <a:p>
            <a:pPr algn="ctr"/>
            <a:r>
              <a:rPr sz="1200">
                <a:solidFill>
                  <a:srgbClr val="FFFFFF"/>
                </a:solidFill>
                <a:latin typeface="Noto Sans CJK JP"/>
              </a:rPr>
              <a:t>に自動保存</a:t>
            </a:r>
          </a:p>
        </p:txBody>
      </p:sp>
      <p:cxnSp>
        <p:nvCxnSpPr>
          <p:cNvPr id="8" name="Connector 7"/>
          <p:cNvCxnSpPr/>
          <p:nvPr/>
        </p:nvCxnSpPr>
        <p:spPr>
          <a:xfrm>
            <a:off x="3474720" y="3017520"/>
            <a:ext cx="10515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177540" y="278892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parse + validate</a:t>
            </a:r>
          </a:p>
        </p:txBody>
      </p:sp>
      <p:cxnSp>
        <p:nvCxnSpPr>
          <p:cNvPr id="10" name="Connector 9"/>
          <p:cNvCxnSpPr/>
          <p:nvPr/>
        </p:nvCxnSpPr>
        <p:spPr>
          <a:xfrm>
            <a:off x="7635240" y="3017520"/>
            <a:ext cx="105156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38060" y="278892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auto-plot</a:t>
            </a:r>
          </a:p>
        </p:txBody>
      </p:sp>
      <p:sp>
        <p:nvSpPr>
          <p:cNvPr id="12" name="TextBox 11"/>
          <p:cNvSpPr txBox="1"/>
          <p:nvPr/>
        </p:nvSpPr>
        <p:spPr>
          <a:xfrm>
            <a:off x="365760" y="4114800"/>
            <a:ext cx="11430000" cy="2286000"/>
          </a:xfrm>
          <a:prstGeom prst="rect">
            <a:avLst/>
          </a:prstGeom>
          <a:noFill/>
        </p:spPr>
        <p:txBody>
          <a:bodyPr wrap="square" lIns="36000" rIns="36000" tIns="18000" bIns="18000" anchor="t">
            <a:spAutoFit/>
          </a:bodyPr>
          <a:lstStyle/>
          <a:p>
            <a:pPr algn="l"/>
            <a:r>
              <a:rPr sz="1400" b="0">
                <a:solidFill>
                  <a:srgbClr val="101010"/>
                </a:solidFill>
                <a:latin typeface="Noto Sans CJK JP"/>
              </a:rPr>
              <a:t>想定する利用シナリオ:</a:t>
            </a:r>
          </a:p>
          <a:p>
            <a:pPr algn="l"/>
            <a:r>
              <a:rPr sz="1400" b="0">
                <a:solidFill>
                  <a:srgbClr val="101010"/>
                </a:solidFill>
                <a:latin typeface="Noto Sans CJK JP"/>
              </a:rPr>
              <a:t>・ パラメータを TOML で版管理 → git diff でケース比較が容易。</a:t>
            </a:r>
          </a:p>
          <a:p>
            <a:pPr algn="l"/>
            <a:r>
              <a:rPr sz="1400" b="0">
                <a:solidFill>
                  <a:srgbClr val="101010"/>
                </a:solidFill>
                <a:latin typeface="Noto Sans CJK JP"/>
              </a:rPr>
              <a:t>・ 1 コマンドで「計算 → 状態取得 → 既定プロット出力」までを完結。</a:t>
            </a:r>
          </a:p>
          <a:p>
            <a:pPr algn="l"/>
            <a:r>
              <a:rPr sz="1400" b="0">
                <a:solidFill>
                  <a:srgbClr val="101010"/>
                </a:solidFill>
                <a:latin typeface="Noto Sans CJK JP"/>
              </a:rPr>
              <a:t>・ MCP server からも同じ TOML を渡せるため、LLM ワークフローと整合。</a:t>
            </a:r>
          </a:p>
          <a:p>
            <a:pPr algn="l"/>
            <a:r>
              <a:rPr sz="1400" b="0">
                <a:solidFill>
                  <a:srgbClr val="101010"/>
                </a:solidFill>
                <a:latin typeface="Noto Sans CJK JP"/>
              </a:rPr>
              <a:t>・ ステータス: 設計 (deferred) — 各モジュールへ横展開予定。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TOML schema 例</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iter01.toml (想定スキーマ抜粋)</a:t>
            </a:r>
          </a:p>
        </p:txBody>
      </p:sp>
      <p:sp>
        <p:nvSpPr>
          <p:cNvPr id="5" name="Rectangle 4"/>
          <p:cNvSpPr/>
          <p:nvPr/>
        </p:nvSpPr>
        <p:spPr>
          <a:xfrm>
            <a:off x="365760" y="1188720"/>
            <a:ext cx="7315200" cy="521208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200">
                <a:solidFill>
                  <a:srgbClr val="101010"/>
                </a:solidFill>
                <a:latin typeface="DejaVu Sans Mono"/>
              </a:rPr>
              <a:t># python/trlib/samples/iter01.toml (想定)</a:t>
            </a:r>
          </a:p>
          <a:p>
            <a:r>
              <a:rPr sz="1200">
                <a:solidFill>
                  <a:srgbClr val="101010"/>
                </a:solidFill>
                <a:latin typeface="DejaVu Sans Mono"/>
              </a:rPr>
              <a:t>[run]</a:t>
            </a:r>
          </a:p>
          <a:p>
            <a:r>
              <a:rPr sz="1200">
                <a:solidFill>
                  <a:srgbClr val="101010"/>
                </a:solidFill>
                <a:latin typeface="DejaVu Sans Mono"/>
              </a:rPr>
              <a:t>module = "tr"</a:t>
            </a:r>
          </a:p>
          <a:p>
            <a:r>
              <a:rPr sz="1200">
                <a:solidFill>
                  <a:srgbClr val="101010"/>
                </a:solidFill>
                <a:latin typeface="DejaVu Sans Mono"/>
              </a:rPr>
              <a:t>ntmax  = 50</a:t>
            </a:r>
          </a:p>
          <a:p>
            <a:r>
              <a:rPr sz="1200">
                <a:solidFill>
                  <a:srgbClr val="101010"/>
                </a:solidFill>
                <a:latin typeface="DejaVu Sans Mono"/>
              </a:rPr>
              <a:t> </a:t>
            </a:r>
          </a:p>
          <a:p>
            <a:r>
              <a:rPr sz="1200">
                <a:solidFill>
                  <a:srgbClr val="101010"/>
                </a:solidFill>
                <a:latin typeface="DejaVu Sans Mono"/>
              </a:rPr>
              <a:t>[geometry]</a:t>
            </a:r>
          </a:p>
          <a:p>
            <a:r>
              <a:rPr sz="1200">
                <a:solidFill>
                  <a:srgbClr val="101010"/>
                </a:solidFill>
                <a:latin typeface="DejaVu Sans Mono"/>
              </a:rPr>
              <a:t>RR    = 8.5    # major radius [m]</a:t>
            </a:r>
          </a:p>
          <a:p>
            <a:r>
              <a:rPr sz="1200">
                <a:solidFill>
                  <a:srgbClr val="101010"/>
                </a:solidFill>
                <a:latin typeface="DejaVu Sans Mono"/>
              </a:rPr>
              <a:t>RA    = 2.0    # minor radius [m]</a:t>
            </a:r>
          </a:p>
          <a:p>
            <a:r>
              <a:rPr sz="1200">
                <a:solidFill>
                  <a:srgbClr val="101010"/>
                </a:solidFill>
                <a:latin typeface="DejaVu Sans Mono"/>
              </a:rPr>
              <a:t>RKAP  = 1.7    # elongation</a:t>
            </a:r>
          </a:p>
          <a:p>
            <a:r>
              <a:rPr sz="1200">
                <a:solidFill>
                  <a:srgbClr val="101010"/>
                </a:solidFill>
                <a:latin typeface="DejaVu Sans Mono"/>
              </a:rPr>
              <a:t>BB    = 5.3    # toroidal field [T]</a:t>
            </a:r>
          </a:p>
          <a:p>
            <a:r>
              <a:rPr sz="1200">
                <a:solidFill>
                  <a:srgbClr val="101010"/>
                </a:solidFill>
                <a:latin typeface="DejaVu Sans Mono"/>
              </a:rPr>
              <a:t> </a:t>
            </a:r>
          </a:p>
          <a:p>
            <a:r>
              <a:rPr sz="1200">
                <a:solidFill>
                  <a:srgbClr val="101010"/>
                </a:solidFill>
                <a:latin typeface="DejaVu Sans Mono"/>
              </a:rPr>
              <a:t>[plasma]</a:t>
            </a:r>
          </a:p>
          <a:p>
            <a:r>
              <a:rPr sz="1200">
                <a:solidFill>
                  <a:srgbClr val="101010"/>
                </a:solidFill>
                <a:latin typeface="DejaVu Sans Mono"/>
              </a:rPr>
              <a:t>NSMAX = 2</a:t>
            </a:r>
          </a:p>
          <a:p>
            <a:r>
              <a:rPr sz="1200">
                <a:solidFill>
                  <a:srgbClr val="101010"/>
                </a:solidFill>
                <a:latin typeface="DejaVu Sans Mono"/>
              </a:rPr>
              <a:t>PN    = [1.0, 1.0]   # density [10^20 m^-3]</a:t>
            </a:r>
          </a:p>
          <a:p>
            <a:r>
              <a:rPr sz="1200">
                <a:solidFill>
                  <a:srgbClr val="101010"/>
                </a:solidFill>
                <a:latin typeface="DejaVu Sans Mono"/>
              </a:rPr>
              <a:t>PT    = [1.5, 1.5]   # temperature [keV]</a:t>
            </a:r>
          </a:p>
          <a:p>
            <a:r>
              <a:rPr sz="1200">
                <a:solidFill>
                  <a:srgbClr val="101010"/>
                </a:solidFill>
                <a:latin typeface="DejaVu Sans Mono"/>
              </a:rPr>
              <a:t> </a:t>
            </a:r>
          </a:p>
          <a:p>
            <a:r>
              <a:rPr sz="1200">
                <a:solidFill>
                  <a:srgbClr val="101010"/>
                </a:solidFill>
                <a:latin typeface="DejaVu Sans Mono"/>
              </a:rPr>
              <a:t>[transport]</a:t>
            </a:r>
          </a:p>
          <a:p>
            <a:r>
              <a:rPr sz="1200">
                <a:solidFill>
                  <a:srgbClr val="101010"/>
                </a:solidFill>
                <a:latin typeface="DejaVu Sans Mono"/>
              </a:rPr>
              <a:t>MDLKAI = 60     # transport model selector</a:t>
            </a:r>
          </a:p>
          <a:p>
            <a:r>
              <a:rPr sz="1200">
                <a:solidFill>
                  <a:srgbClr val="101010"/>
                </a:solidFill>
                <a:latin typeface="DejaVu Sans Mono"/>
              </a:rPr>
              <a:t>CK0    = 12.0</a:t>
            </a:r>
          </a:p>
          <a:p>
            <a:r>
              <a:rPr sz="1200">
                <a:solidFill>
                  <a:srgbClr val="101010"/>
                </a:solidFill>
                <a:latin typeface="DejaVu Sans Mono"/>
              </a:rPr>
              <a:t>CK1    = 12.0</a:t>
            </a:r>
          </a:p>
          <a:p>
            <a:r>
              <a:rPr sz="1200">
                <a:solidFill>
                  <a:srgbClr val="101010"/>
                </a:solidFill>
                <a:latin typeface="DejaVu Sans Mono"/>
              </a:rPr>
              <a:t> </a:t>
            </a:r>
          </a:p>
          <a:p>
            <a:r>
              <a:rPr sz="1200">
                <a:solidFill>
                  <a:srgbClr val="101010"/>
                </a:solidFill>
                <a:latin typeface="DejaVu Sans Mono"/>
              </a:rPr>
              <a:t>[plot]</a:t>
            </a:r>
          </a:p>
          <a:p>
            <a:r>
              <a:rPr sz="1200">
                <a:solidFill>
                  <a:srgbClr val="101010"/>
                </a:solidFill>
                <a:latin typeface="DejaVu Sans Mono"/>
              </a:rPr>
              <a:t>vars   = ["RN", "RT", "AJ", "QP"]</a:t>
            </a:r>
          </a:p>
          <a:p>
            <a:r>
              <a:rPr sz="1200">
                <a:solidFill>
                  <a:srgbClr val="101010"/>
                </a:solidFill>
                <a:latin typeface="DejaVu Sans Mono"/>
              </a:rPr>
              <a:t>format = "png"</a:t>
            </a:r>
          </a:p>
          <a:p>
            <a:r>
              <a:rPr sz="1200">
                <a:solidFill>
                  <a:srgbClr val="101010"/>
                </a:solidFill>
                <a:latin typeface="DejaVu Sans Mono"/>
              </a:rPr>
              <a:t>outdir = "./out"</a:t>
            </a:r>
          </a:p>
          <a:p>
            <a:r>
              <a:rPr sz="1200">
                <a:solidFill>
                  <a:srgbClr val="101010"/>
                </a:solidFill>
                <a:latin typeface="DejaVu Sans Mono"/>
              </a:rPr>
              <a:t> </a:t>
            </a:r>
          </a:p>
        </p:txBody>
      </p:sp>
      <p:sp>
        <p:nvSpPr>
          <p:cNvPr id="6" name="TextBox 5"/>
          <p:cNvSpPr txBox="1"/>
          <p:nvPr/>
        </p:nvSpPr>
        <p:spPr>
          <a:xfrm>
            <a:off x="7863840" y="1188720"/>
            <a:ext cx="4023360" cy="5212080"/>
          </a:xfrm>
          <a:prstGeom prst="rect">
            <a:avLst/>
          </a:prstGeom>
          <a:noFill/>
        </p:spPr>
        <p:txBody>
          <a:bodyPr wrap="square" lIns="36000" rIns="36000" tIns="18000" bIns="18000">
            <a:spAutoFit/>
          </a:bodyPr>
          <a:lstStyle/>
          <a:p>
            <a:pPr algn="l">
              <a:spcAft>
                <a:spcPts val="600"/>
              </a:spcAft>
            </a:pPr>
            <a:r>
              <a:rPr sz="1300">
                <a:solidFill>
                  <a:srgbClr val="101010"/>
                </a:solidFill>
                <a:latin typeface="Noto Sans CJK JP"/>
              </a:rPr>
              <a:t>・ [run]: モジュール選択と時間ステップ数。</a:t>
            </a:r>
          </a:p>
          <a:p>
            <a:pPr algn="l">
              <a:spcAft>
                <a:spcPts val="600"/>
              </a:spcAft>
            </a:pPr>
            <a:r>
              <a:rPr sz="1300">
                <a:solidFill>
                  <a:srgbClr val="101010"/>
                </a:solidFill>
                <a:latin typeface="Noto Sans CJK JP"/>
              </a:rPr>
              <a:t>・ [geometry]: 装置形状 (RR/RA/RKAP/BB)。</a:t>
            </a:r>
          </a:p>
          <a:p>
            <a:pPr algn="l">
              <a:spcAft>
                <a:spcPts val="600"/>
              </a:spcAft>
            </a:pPr>
            <a:r>
              <a:rPr sz="1300">
                <a:solidFill>
                  <a:srgbClr val="101010"/>
                </a:solidFill>
                <a:latin typeface="Noto Sans CJK JP"/>
              </a:rPr>
              <a:t>・ [plasma]: 種数と密度・温度配列。</a:t>
            </a:r>
          </a:p>
          <a:p>
            <a:pPr algn="l">
              <a:spcAft>
                <a:spcPts val="600"/>
              </a:spcAft>
            </a:pPr>
            <a:r>
              <a:rPr sz="1300">
                <a:solidFill>
                  <a:srgbClr val="101010"/>
                </a:solidFill>
                <a:latin typeface="Noto Sans CJK JP"/>
              </a:rPr>
              <a:t>・ [transport]: 輸送係数モデル。</a:t>
            </a:r>
          </a:p>
          <a:p>
            <a:pPr algn="l">
              <a:spcAft>
                <a:spcPts val="600"/>
              </a:spcAft>
            </a:pPr>
            <a:r>
              <a:rPr sz="1300">
                <a:solidFill>
                  <a:srgbClr val="101010"/>
                </a:solidFill>
                <a:latin typeface="Noto Sans CJK JP"/>
              </a:rPr>
              <a:t>・ [plot]: 自動プロット対象変数と出力先。</a:t>
            </a:r>
          </a:p>
          <a:p>
            <a:pPr algn="l">
              <a:spcAft>
                <a:spcPts val="600"/>
              </a:spcAft>
            </a:pPr>
            <a:r>
              <a:rPr sz="1300">
                <a:solidFill>
                  <a:srgbClr val="101010"/>
                </a:solidFill>
                <a:latin typeface="Noto Sans CJK JP"/>
              </a:rPr>
              <a:t>・ 未指定キーは namelist 既定値が継続。</a:t>
            </a:r>
          </a:p>
          <a:p>
            <a:pPr algn="l">
              <a:spcAft>
                <a:spcPts val="600"/>
              </a:spcAft>
            </a:pPr>
            <a:r>
              <a:rPr sz="1300">
                <a:solidFill>
                  <a:srgbClr val="101010"/>
                </a:solidFill>
                <a:latin typeface="Noto Sans CJK JP"/>
              </a:rPr>
              <a:t>・ TOML はコメント付きで版管理しやすい。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使い方 3: 可視化 API (今後)</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tr.plot('RN') で密度プロファイルを即可視化</a:t>
            </a:r>
          </a:p>
        </p:txBody>
      </p:sp>
      <p:sp>
        <p:nvSpPr>
          <p:cNvPr id="5" name="Rectangle 4"/>
          <p:cNvSpPr/>
          <p:nvPr/>
        </p:nvSpPr>
        <p:spPr>
          <a:xfrm>
            <a:off x="365760" y="1188720"/>
            <a:ext cx="5669280" cy="31089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a:solidFill>
                  <a:srgbClr val="101010"/>
                </a:solidFill>
                <a:latin typeface="DejaVu Sans Mono"/>
              </a:rPr>
              <a:t>with Trlib() as tr:</a:t>
            </a:r>
          </a:p>
          <a:p>
            <a:r>
              <a:rPr sz="1300">
                <a:solidFill>
                  <a:srgbClr val="101010"/>
                </a:solidFill>
                <a:latin typeface="DejaVu Sans Mono"/>
              </a:rPr>
              <a:t>    tr.set_params(RR=8.5, RA=2.0, BB=5.3,</a:t>
            </a:r>
          </a:p>
          <a:p>
            <a:r>
              <a:rPr sz="1300">
                <a:solidFill>
                  <a:srgbClr val="101010"/>
                </a:solidFill>
                <a:latin typeface="DejaVu Sans Mono"/>
              </a:rPr>
              <a:t>                  NSMAX=2, DT=0.1, NTSTEP=10)</a:t>
            </a:r>
          </a:p>
          <a:p>
            <a:r>
              <a:rPr sz="1300">
                <a:solidFill>
                  <a:srgbClr val="101010"/>
                </a:solidFill>
                <a:latin typeface="DejaVu Sans Mono"/>
              </a:rPr>
              <a:t>    tr.run(ntmax=50)</a:t>
            </a:r>
          </a:p>
          <a:p>
            <a:r>
              <a:rPr sz="1300">
                <a:solidFill>
                  <a:srgbClr val="101010"/>
                </a:solidFill>
                <a:latin typeface="DejaVu Sans Mono"/>
              </a:rPr>
              <a:t> </a:t>
            </a:r>
          </a:p>
          <a:p>
            <a:r>
              <a:rPr sz="1300">
                <a:solidFill>
                  <a:srgbClr val="101010"/>
                </a:solidFill>
                <a:latin typeface="DejaVu Sans Mono"/>
              </a:rPr>
              <a:t>    fig = tr.plot("RN")           # 密度プロファイル</a:t>
            </a:r>
          </a:p>
          <a:p>
            <a:r>
              <a:rPr sz="1300">
                <a:solidFill>
                  <a:srgbClr val="101010"/>
                </a:solidFill>
                <a:latin typeface="DejaVu Sans Mono"/>
              </a:rPr>
              <a:t>    fig.savefig("density.png")</a:t>
            </a:r>
          </a:p>
          <a:p>
            <a:r>
              <a:rPr sz="1300">
                <a:solidFill>
                  <a:srgbClr val="101010"/>
                </a:solidFill>
                <a:latin typeface="DejaVu Sans Mono"/>
              </a:rPr>
              <a:t> </a:t>
            </a:r>
          </a:p>
          <a:p>
            <a:r>
              <a:rPr sz="1300">
                <a:solidFill>
                  <a:srgbClr val="101010"/>
                </a:solidFill>
                <a:latin typeface="DejaVu Sans Mono"/>
              </a:rPr>
              <a:t>    tr.plot("RT", show=True)     # 温度をその場表示</a:t>
            </a:r>
          </a:p>
          <a:p>
            <a:r>
              <a:rPr sz="1300">
                <a:solidFill>
                  <a:srgbClr val="101010"/>
                </a:solidFill>
                <a:latin typeface="DejaVu Sans Mono"/>
              </a:rPr>
              <a:t> </a:t>
            </a:r>
          </a:p>
        </p:txBody>
      </p:sp>
      <p:pic>
        <p:nvPicPr>
          <p:cNvPr id="6" name="Picture 5" descr="mock_rnt_plot.png"/>
          <p:cNvPicPr>
            <a:picLocks noChangeAspect="1"/>
          </p:cNvPicPr>
          <p:nvPr/>
        </p:nvPicPr>
        <p:blipFill>
          <a:blip r:embed="rId2"/>
          <a:stretch>
            <a:fillRect/>
          </a:stretch>
        </p:blipFill>
        <p:spPr>
          <a:xfrm>
            <a:off x="6309360" y="1188720"/>
            <a:ext cx="5486400" cy="3262888"/>
          </a:xfrm>
          <a:prstGeom prst="rect">
            <a:avLst/>
          </a:prstGeom>
        </p:spPr>
      </p:pic>
      <p:sp>
        <p:nvSpPr>
          <p:cNvPr id="7" name="TextBox 6"/>
          <p:cNvSpPr txBox="1"/>
          <p:nvPr/>
        </p:nvSpPr>
        <p:spPr>
          <a:xfrm>
            <a:off x="365760" y="4480560"/>
            <a:ext cx="5669280" cy="2103120"/>
          </a:xfrm>
          <a:prstGeom prst="rect">
            <a:avLst/>
          </a:prstGeom>
          <a:noFill/>
        </p:spPr>
        <p:txBody>
          <a:bodyPr wrap="square" lIns="36000" rIns="36000" tIns="18000" bIns="18000" anchor="t">
            <a:spAutoFit/>
          </a:bodyPr>
          <a:lstStyle/>
          <a:p>
            <a:pPr algn="l"/>
            <a:r>
              <a:rPr sz="1300" b="0">
                <a:solidFill>
                  <a:srgbClr val="101010"/>
                </a:solidFill>
                <a:latin typeface="Noto Sans CJK JP"/>
              </a:rPr>
              <a:t>API 設計方針:</a:t>
            </a:r>
          </a:p>
          <a:p>
            <a:pPr algn="l"/>
            <a:r>
              <a:rPr sz="1300" b="0">
                <a:solidFill>
                  <a:srgbClr val="101010"/>
                </a:solidFill>
                <a:latin typeface="Noto Sans CJK JP"/>
              </a:rPr>
              <a:t>・ Module ごとに plot(varname) を提供 (tr / fp / ti / ...)。</a:t>
            </a:r>
          </a:p>
          <a:p>
            <a:pPr algn="l"/>
            <a:r>
              <a:rPr sz="1300" b="0">
                <a:solidFill>
                  <a:srgbClr val="101010"/>
                </a:solidFill>
                <a:latin typeface="Noto Sans CJK JP"/>
              </a:rPr>
              <a:t>・ 戻り値は matplotlib.figure.Figure。Jupyter で即表示可。</a:t>
            </a:r>
          </a:p>
          <a:p>
            <a:pPr algn="l"/>
            <a:r>
              <a:rPr sz="1300" b="0">
                <a:solidFill>
                  <a:srgbClr val="101010"/>
                </a:solidFill>
                <a:latin typeface="Noto Sans CJK JP"/>
              </a:rPr>
              <a:t>・ MCP からは plot 結果を base64 PNG で返却 (今後拡張)。</a:t>
            </a:r>
          </a:p>
          <a:p>
            <a:pPr algn="l"/>
            <a:r>
              <a:rPr sz="1300" b="0">
                <a:solidFill>
                  <a:srgbClr val="101010"/>
                </a:solidFill>
                <a:latin typeface="Noto Sans CJK JP"/>
              </a:rPr>
              <a:t>・ ステータス: deferred — TR 用 plot 設計を先行。</a:t>
            </a:r>
          </a:p>
        </p:txBody>
      </p:sp>
      <p:sp>
        <p:nvSpPr>
          <p:cNvPr id="8" name="TextBox 7"/>
          <p:cNvSpPr txBox="1"/>
          <p:nvPr/>
        </p:nvSpPr>
        <p:spPr>
          <a:xfrm>
            <a:off x="6309360" y="5212080"/>
            <a:ext cx="5486400" cy="1188720"/>
          </a:xfrm>
          <a:prstGeom prst="rect">
            <a:avLst/>
          </a:prstGeom>
          <a:noFill/>
        </p:spPr>
        <p:txBody>
          <a:bodyPr wrap="square" lIns="36000" rIns="36000" tIns="18000" bIns="18000" anchor="t">
            <a:spAutoFit/>
          </a:bodyPr>
          <a:lstStyle/>
          <a:p>
            <a:pPr algn="l"/>
            <a:r>
              <a:rPr sz="1100" b="0">
                <a:solidFill>
                  <a:srgbClr val="555555"/>
                </a:solidFill>
                <a:latin typeface="Noto Sans CJK JP"/>
              </a:rPr>
              <a:t>右図は tr.plot('RN') の模擬出力イメージです。</a:t>
            </a:r>
          </a:p>
          <a:p>
            <a:pPr algn="l"/>
            <a:r>
              <a:rPr sz="1100" b="0">
                <a:solidFill>
                  <a:srgbClr val="555555"/>
                </a:solidFill>
                <a:latin typeface="Noto Sans CJK JP"/>
              </a:rPr>
              <a:t>実装後は state.RN を直接 matplotlib に渡して描画します。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使い方 4: MCP server (LLM 連携)</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Claude / Cursor から自然言語で計算を起動</a:t>
            </a:r>
          </a:p>
        </p:txBody>
      </p:sp>
      <p:sp>
        <p:nvSpPr>
          <p:cNvPr id="5" name="Rounded Rectangle 4"/>
          <p:cNvSpPr/>
          <p:nvPr/>
        </p:nvSpPr>
        <p:spPr>
          <a:xfrm>
            <a:off x="365760" y="2194560"/>
            <a:ext cx="2468880" cy="146304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ユーザー</a:t>
            </a:r>
          </a:p>
          <a:p>
            <a:pPr algn="ctr"/>
            <a:r>
              <a:rPr sz="1100">
                <a:solidFill>
                  <a:srgbClr val="FFFFFF"/>
                </a:solidFill>
                <a:latin typeface="Noto Sans CJK JP"/>
              </a:rPr>
              <a:t>「TR を RR=6.5 で</a:t>
            </a:r>
          </a:p>
          <a:p>
            <a:pPr algn="ctr"/>
            <a:r>
              <a:rPr sz="1100">
                <a:solidFill>
                  <a:srgbClr val="FFFFFF"/>
                </a:solidFill>
                <a:latin typeface="Noto Sans CJK JP"/>
              </a:rPr>
              <a:t>10 ステップ走らせて</a:t>
            </a:r>
          </a:p>
          <a:p>
            <a:pPr algn="ctr"/>
            <a:r>
              <a:rPr sz="1100">
                <a:solidFill>
                  <a:srgbClr val="FFFFFF"/>
                </a:solidFill>
                <a:latin typeface="Noto Sans CJK JP"/>
              </a:rPr>
              <a:t>Q0 を教えて」</a:t>
            </a:r>
          </a:p>
        </p:txBody>
      </p:sp>
      <p:sp>
        <p:nvSpPr>
          <p:cNvPr id="6" name="Rounded Rectangle 5"/>
          <p:cNvSpPr/>
          <p:nvPr/>
        </p:nvSpPr>
        <p:spPr>
          <a:xfrm>
            <a:off x="3246120" y="2194560"/>
            <a:ext cx="2468880" cy="1463040"/>
          </a:xfrm>
          <a:prstGeom prst="roundRect">
            <a:avLst/>
          </a:prstGeom>
          <a:solidFill>
            <a:srgbClr val="0D47A1"/>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LLM (Claude)</a:t>
            </a:r>
          </a:p>
          <a:p>
            <a:pPr algn="ctr"/>
            <a:r>
              <a:rPr sz="1100">
                <a:solidFill>
                  <a:srgbClr val="FFFFFF"/>
                </a:solidFill>
                <a:latin typeface="Noto Sans CJK JP"/>
              </a:rPr>
              <a:t>ツール呼出を選択</a:t>
            </a:r>
          </a:p>
          <a:p>
            <a:pPr algn="ctr"/>
            <a:r>
              <a:rPr sz="1100">
                <a:solidFill>
                  <a:srgbClr val="FFFFFF"/>
                </a:solidFill>
                <a:latin typeface="Noto Sans CJK JP"/>
              </a:rPr>
              <a:t>run_and_get_state</a:t>
            </a:r>
          </a:p>
          <a:p>
            <a:pPr algn="ctr"/>
            <a:r>
              <a:rPr sz="1100">
                <a:solidFill>
                  <a:srgbClr val="FFFFFF"/>
                </a:solidFill>
                <a:latin typeface="Noto Sans CJK JP"/>
              </a:rPr>
              <a:t>(params, ntmax)</a:t>
            </a:r>
          </a:p>
        </p:txBody>
      </p:sp>
      <p:sp>
        <p:nvSpPr>
          <p:cNvPr id="7" name="Rounded Rectangle 6"/>
          <p:cNvSpPr/>
          <p:nvPr/>
        </p:nvSpPr>
        <p:spPr>
          <a:xfrm>
            <a:off x="6126480" y="2194560"/>
            <a:ext cx="2468880" cy="1463040"/>
          </a:xfrm>
          <a:prstGeom prst="roundRect">
            <a:avLst/>
          </a:prstGeom>
          <a:solidFill>
            <a:srgbClr val="6A1B9A"/>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MCP サーバ
(&lt;X&gt;_mcp.server)</a:t>
            </a:r>
          </a:p>
          <a:p>
            <a:pPr algn="ctr"/>
            <a:r>
              <a:rPr sz="1100">
                <a:solidFill>
                  <a:srgbClr val="FFFFFF"/>
                </a:solidFill>
                <a:latin typeface="Noto Sans CJK JP"/>
              </a:rPr>
              <a:t>stdio + JSON-RPC</a:t>
            </a:r>
          </a:p>
          <a:p>
            <a:pPr algn="ctr"/>
            <a:r>
              <a:rPr sz="1100">
                <a:solidFill>
                  <a:srgbClr val="FFFFFF"/>
                </a:solidFill>
                <a:latin typeface="Noto Sans CJK JP"/>
              </a:rPr>
              <a:t>FastMCP runtime</a:t>
            </a:r>
          </a:p>
          <a:p>
            <a:pPr algn="ctr"/>
            <a:r>
              <a:rPr sz="1100">
                <a:solidFill>
                  <a:srgbClr val="FFFFFF"/>
                </a:solidFill>
                <a:latin typeface="Noto Sans CJK JP"/>
              </a:rPr>
              <a:t>9 ツール公開</a:t>
            </a:r>
          </a:p>
        </p:txBody>
      </p:sp>
      <p:sp>
        <p:nvSpPr>
          <p:cNvPr id="8" name="Rounded Rectangle 7"/>
          <p:cNvSpPr/>
          <p:nvPr/>
        </p:nvSpPr>
        <p:spPr>
          <a:xfrm>
            <a:off x="9006840" y="2194560"/>
            <a:ext cx="2468880" cy="1463040"/>
          </a:xfrm>
          <a:prstGeom prst="roundRect">
            <a:avLst/>
          </a:prstGeom>
          <a:solidFill>
            <a:srgbClr val="1F4E79"/>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ライブラリ
(&lt;X&gt;lib + .so)</a:t>
            </a:r>
          </a:p>
          <a:p>
            <a:pPr algn="ctr"/>
            <a:r>
              <a:rPr sz="1100">
                <a:solidFill>
                  <a:srgbClr val="FFFFFF"/>
                </a:solidFill>
                <a:latin typeface="Noto Sans CJK JP"/>
              </a:rPr>
              <a:t>ctypes -&gt; BIND(C)</a:t>
            </a:r>
          </a:p>
          <a:p>
            <a:pPr algn="ctr"/>
            <a:r>
              <a:rPr sz="1100">
                <a:solidFill>
                  <a:srgbClr val="FFFFFF"/>
                </a:solidFill>
                <a:latin typeface="Noto Sans CJK JP"/>
              </a:rPr>
              <a:t>-&gt; Fortran kernel</a:t>
            </a:r>
          </a:p>
        </p:txBody>
      </p:sp>
      <p:cxnSp>
        <p:nvCxnSpPr>
          <p:cNvPr id="9" name="Connector 8"/>
          <p:cNvCxnSpPr/>
          <p:nvPr/>
        </p:nvCxnSpPr>
        <p:spPr>
          <a:xfrm>
            <a:off x="2834640" y="2926080"/>
            <a:ext cx="41148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217420" y="269748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自然言語</a:t>
            </a:r>
          </a:p>
        </p:txBody>
      </p:sp>
      <p:cxnSp>
        <p:nvCxnSpPr>
          <p:cNvPr id="11" name="Connector 10"/>
          <p:cNvCxnSpPr/>
          <p:nvPr/>
        </p:nvCxnSpPr>
        <p:spPr>
          <a:xfrm>
            <a:off x="5715000" y="2926080"/>
            <a:ext cx="41148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97780" y="269748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JSON-RPC</a:t>
            </a:r>
          </a:p>
        </p:txBody>
      </p:sp>
      <p:cxnSp>
        <p:nvCxnSpPr>
          <p:cNvPr id="13" name="Connector 12"/>
          <p:cNvCxnSpPr/>
          <p:nvPr/>
        </p:nvCxnSpPr>
        <p:spPr>
          <a:xfrm>
            <a:off x="8595360" y="2926080"/>
            <a:ext cx="411480"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978140" y="2697480"/>
            <a:ext cx="1645920" cy="274320"/>
          </a:xfrm>
          <a:prstGeom prst="rect">
            <a:avLst/>
          </a:prstGeom>
          <a:noFill/>
        </p:spPr>
        <p:txBody>
          <a:bodyPr wrap="square" lIns="36000" rIns="36000" tIns="18000" bIns="18000" anchor="t">
            <a:spAutoFit/>
          </a:bodyPr>
          <a:lstStyle/>
          <a:p>
            <a:pPr algn="ctr"/>
            <a:r>
              <a:rPr sz="1000" b="0">
                <a:solidFill>
                  <a:srgbClr val="555555"/>
                </a:solidFill>
                <a:latin typeface="Noto Sans CJK JP"/>
              </a:rPr>
              <a:t>Python 関数呼出</a:t>
            </a:r>
          </a:p>
        </p:txBody>
      </p:sp>
      <p:sp>
        <p:nvSpPr>
          <p:cNvPr id="15" name="TextBox 14"/>
          <p:cNvSpPr txBox="1"/>
          <p:nvPr/>
        </p:nvSpPr>
        <p:spPr>
          <a:xfrm>
            <a:off x="365760" y="4114800"/>
            <a:ext cx="11430000" cy="457200"/>
          </a:xfrm>
          <a:prstGeom prst="rect">
            <a:avLst/>
          </a:prstGeom>
          <a:noFill/>
        </p:spPr>
        <p:txBody>
          <a:bodyPr wrap="square" lIns="36000" rIns="36000" tIns="18000" bIns="18000" anchor="t">
            <a:spAutoFit/>
          </a:bodyPr>
          <a:lstStyle/>
          <a:p>
            <a:pPr algn="ctr"/>
            <a:r>
              <a:rPr sz="1300" b="1">
                <a:solidFill>
                  <a:srgbClr val="555555"/>
                </a:solidFill>
                <a:latin typeface="Noto Sans CJK JP"/>
              </a:rPr>
              <a:t>戻りは逆向き: ライブラリ → MCP (dict) → LLM (要約) → ユーザー (自然言語回答)</a:t>
            </a:r>
          </a:p>
        </p:txBody>
      </p:sp>
      <p:sp>
        <p:nvSpPr>
          <p:cNvPr id="16" name="Rectangle 15"/>
          <p:cNvSpPr/>
          <p:nvPr/>
        </p:nvSpPr>
        <p:spPr>
          <a:xfrm>
            <a:off x="365760" y="4846320"/>
            <a:ext cx="11430000" cy="1280160"/>
          </a:xfrm>
          <a:prstGeom prst="rect">
            <a:avLst/>
          </a:prstGeom>
          <a:solidFill>
            <a:srgbClr val="F5F5F5"/>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t" wrap="square" lIns="72000" rIns="72000" tIns="54000" bIns="54000"/>
          <a:lstStyle/>
          <a:p>
            <a:pPr algn="ctr"/>
            <a:r>
              <a:rPr sz="1300" b="1">
                <a:solidFill>
                  <a:srgbClr val="555555"/>
                </a:solidFill>
                <a:latin typeface="Noto Sans CJK JP"/>
              </a:rPr>
              <a:t>登録コマンド + 利用イメージ</a:t>
            </a:r>
          </a:p>
          <a:p>
            <a:r>
              <a:rPr sz="1200">
                <a:solidFill>
                  <a:srgbClr val="101010"/>
                </a:solidFill>
                <a:latin typeface="DejaVu Sans Mono"/>
              </a:rPr>
              <a:t>$ claude mcp add task-tr -- python -m tr_mcp.server</a:t>
            </a:r>
          </a:p>
          <a:p>
            <a:r>
              <a:rPr sz="1200">
                <a:solidFill>
                  <a:srgbClr val="101010"/>
                </a:solidFill>
                <a:latin typeface="DejaVu Sans Mono"/>
              </a:rPr>
              <a:t>$ # Claude の会話で 「TR を RR=6.5 で 10 ステップ走らせて Q0 を教えて」 と入力するだけ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MCP ツール一覧 (9 ツール)</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&lt;X&gt;_mcp サーバが公開する関数群</a:t>
            </a:r>
          </a:p>
        </p:txBody>
      </p:sp>
      <p:graphicFrame>
        <p:nvGraphicFramePr>
          <p:cNvPr id="5" name="Table 4"/>
          <p:cNvGraphicFramePr>
            <a:graphicFrameLocks noGrp="1"/>
          </p:cNvGraphicFramePr>
          <p:nvPr/>
        </p:nvGraphicFramePr>
        <p:xfrm>
          <a:off x="457200" y="1188720"/>
          <a:ext cx="7772400" cy="5120640"/>
        </p:xfrm>
        <a:graphic>
          <a:graphicData uri="http://schemas.openxmlformats.org/drawingml/2006/table">
            <a:tbl>
              <a:tblPr firstRow="1" bandRow="1">
                <a:tableStyleId>{5C22544A-7EE6-4342-B048-85BDC9FD1C3A}</a:tableStyleId>
              </a:tblPr>
              <a:tblGrid>
                <a:gridCol w="2590800"/>
                <a:gridCol w="2590800"/>
                <a:gridCol w="2590800"/>
              </a:tblGrid>
              <a:tr h="512064">
                <a:tc>
                  <a:txBody>
                    <a:bodyPr wrap="square"/>
                    <a:lstStyle/>
                    <a:p>
                      <a:pPr algn="l"/>
                      <a:r>
                        <a:rPr sz="1200" b="1">
                          <a:solidFill>
                            <a:srgbClr val="FFFFFF"/>
                          </a:solidFill>
                          <a:latin typeface="Noto Sans CJK JP"/>
                        </a:rPr>
                        <a:t>ツール名</a:t>
                      </a:r>
                    </a:p>
                  </a:txBody>
                  <a:tcPr>
                    <a:solidFill>
                      <a:srgbClr val="0D47A1"/>
                    </a:solidFill>
                  </a:tcPr>
                </a:tc>
                <a:tc>
                  <a:txBody>
                    <a:bodyPr wrap="square"/>
                    <a:lstStyle/>
                    <a:p>
                      <a:pPr algn="l"/>
                      <a:r>
                        <a:rPr sz="1200" b="1">
                          <a:solidFill>
                            <a:srgbClr val="FFFFFF"/>
                          </a:solidFill>
                          <a:latin typeface="Noto Sans CJK JP"/>
                        </a:rPr>
                        <a:t>目的</a:t>
                      </a:r>
                    </a:p>
                  </a:txBody>
                  <a:tcPr>
                    <a:solidFill>
                      <a:srgbClr val="0D47A1"/>
                    </a:solidFill>
                  </a:tcPr>
                </a:tc>
                <a:tc>
                  <a:txBody>
                    <a:bodyPr wrap="square"/>
                    <a:lstStyle/>
                    <a:p>
                      <a:pPr algn="l"/>
                      <a:r>
                        <a:rPr sz="1200" b="1">
                          <a:solidFill>
                            <a:srgbClr val="FFFFFF"/>
                          </a:solidFill>
                          <a:latin typeface="Noto Sans CJK JP"/>
                        </a:rPr>
                        <a:t>主な引数</a:t>
                      </a:r>
                    </a:p>
                  </a:txBody>
                  <a:tcPr>
                    <a:solidFill>
                      <a:srgbClr val="0D47A1"/>
                    </a:solidFill>
                  </a:tcPr>
                </a:tc>
              </a:tr>
              <a:tr h="512064">
                <a:tc>
                  <a:txBody>
                    <a:bodyPr wrap="square"/>
                    <a:lstStyle/>
                    <a:p>
                      <a:pPr algn="l"/>
                      <a:r>
                        <a:rPr sz="1200">
                          <a:solidFill>
                            <a:srgbClr val="101010"/>
                          </a:solidFill>
                          <a:latin typeface="Noto Sans CJK JP"/>
                        </a:rPr>
                        <a:t>init</a:t>
                      </a:r>
                    </a:p>
                  </a:txBody>
                  <a:tcPr>
                    <a:solidFill>
                      <a:srgbClr val="FFFFFF"/>
                    </a:solidFill>
                  </a:tcPr>
                </a:tc>
                <a:tc>
                  <a:txBody>
                    <a:bodyPr wrap="square"/>
                    <a:lstStyle/>
                    <a:p>
                      <a:pPr algn="l"/>
                      <a:r>
                        <a:rPr sz="1200">
                          <a:solidFill>
                            <a:srgbClr val="101010"/>
                          </a:solidFill>
                          <a:latin typeface="Noto Sans CJK JP"/>
                        </a:rPr>
                        <a:t>ライブラリ初期化</a:t>
                      </a:r>
                    </a:p>
                  </a:txBody>
                  <a:tcPr>
                    <a:solidFill>
                      <a:srgbClr val="FFFFFF"/>
                    </a:solidFill>
                  </a:tcPr>
                </a:tc>
                <a:tc>
                  <a:txBody>
                    <a:bodyPr wrap="square"/>
                    <a:lstStyle/>
                    <a:p>
                      <a:pPr algn="l"/>
                      <a:r>
                        <a:rPr sz="1200">
                          <a:solidFill>
                            <a:srgbClr val="101010"/>
                          </a:solidFill>
                          <a:latin typeface="Noto Sans CJK JP"/>
                        </a:rPr>
                        <a:t>なし</a:t>
                      </a:r>
                    </a:p>
                  </a:txBody>
                  <a:tcPr>
                    <a:solidFill>
                      <a:srgbClr val="FFFFFF"/>
                    </a:solidFill>
                  </a:tcPr>
                </a:tc>
              </a:tr>
              <a:tr h="512064">
                <a:tc>
                  <a:txBody>
                    <a:bodyPr wrap="square"/>
                    <a:lstStyle/>
                    <a:p>
                      <a:pPr algn="l"/>
                      <a:r>
                        <a:rPr sz="1200">
                          <a:solidFill>
                            <a:srgbClr val="101010"/>
                          </a:solidFill>
                          <a:latin typeface="Noto Sans CJK JP"/>
                        </a:rPr>
                        <a:t>set_param</a:t>
                      </a:r>
                    </a:p>
                  </a:txBody>
                  <a:tcPr>
                    <a:solidFill>
                      <a:srgbClr val="EEEEEE"/>
                    </a:solidFill>
                  </a:tcPr>
                </a:tc>
                <a:tc>
                  <a:txBody>
                    <a:bodyPr wrap="square"/>
                    <a:lstStyle/>
                    <a:p>
                      <a:pPr algn="l"/>
                      <a:r>
                        <a:rPr sz="1200">
                          <a:solidFill>
                            <a:srgbClr val="101010"/>
                          </a:solidFill>
                          <a:latin typeface="Noto Sans CJK JP"/>
                        </a:rPr>
                        <a:t>単一パラメータ設定</a:t>
                      </a:r>
                    </a:p>
                  </a:txBody>
                  <a:tcPr>
                    <a:solidFill>
                      <a:srgbClr val="EEEEEE"/>
                    </a:solidFill>
                  </a:tcPr>
                </a:tc>
                <a:tc>
                  <a:txBody>
                    <a:bodyPr wrap="square"/>
                    <a:lstStyle/>
                    <a:p>
                      <a:pPr algn="l"/>
                      <a:r>
                        <a:rPr sz="1200">
                          <a:solidFill>
                            <a:srgbClr val="101010"/>
                          </a:solidFill>
                          <a:latin typeface="Noto Sans CJK JP"/>
                        </a:rPr>
                        <a:t>name, value (NAME[i] 可)</a:t>
                      </a:r>
                    </a:p>
                  </a:txBody>
                  <a:tcPr>
                    <a:solidFill>
                      <a:srgbClr val="EEEEEE"/>
                    </a:solidFill>
                  </a:tcPr>
                </a:tc>
              </a:tr>
              <a:tr h="512064">
                <a:tc>
                  <a:txBody>
                    <a:bodyPr wrap="square"/>
                    <a:lstStyle/>
                    <a:p>
                      <a:pPr algn="l"/>
                      <a:r>
                        <a:rPr sz="1200">
                          <a:solidFill>
                            <a:srgbClr val="101010"/>
                          </a:solidFill>
                          <a:latin typeface="Noto Sans CJK JP"/>
                        </a:rPr>
                        <a:t>set_params</a:t>
                      </a:r>
                    </a:p>
                  </a:txBody>
                  <a:tcPr>
                    <a:solidFill>
                      <a:srgbClr val="FFFFFF"/>
                    </a:solidFill>
                  </a:tcPr>
                </a:tc>
                <a:tc>
                  <a:txBody>
                    <a:bodyPr wrap="square"/>
                    <a:lstStyle/>
                    <a:p>
                      <a:pPr algn="l"/>
                      <a:r>
                        <a:rPr sz="1200">
                          <a:solidFill>
                            <a:srgbClr val="101010"/>
                          </a:solidFill>
                          <a:latin typeface="Noto Sans CJK JP"/>
                        </a:rPr>
                        <a:t>まとめて設定 (scalar / list / dict)</a:t>
                      </a:r>
                    </a:p>
                  </a:txBody>
                  <a:tcPr>
                    <a:solidFill>
                      <a:srgbClr val="FFFFFF"/>
                    </a:solidFill>
                  </a:tcPr>
                </a:tc>
                <a:tc>
                  <a:txBody>
                    <a:bodyPr wrap="square"/>
                    <a:lstStyle/>
                    <a:p>
                      <a:pPr algn="l"/>
                      <a:r>
                        <a:rPr sz="1200">
                          <a:solidFill>
                            <a:srgbClr val="101010"/>
                          </a:solidFill>
                          <a:latin typeface="Noto Sans CJK JP"/>
                        </a:rPr>
                        <a:t>params</a:t>
                      </a:r>
                    </a:p>
                  </a:txBody>
                  <a:tcPr>
                    <a:solidFill>
                      <a:srgbClr val="FFFFFF"/>
                    </a:solidFill>
                  </a:tcPr>
                </a:tc>
              </a:tr>
              <a:tr h="512064">
                <a:tc>
                  <a:txBody>
                    <a:bodyPr wrap="square"/>
                    <a:lstStyle/>
                    <a:p>
                      <a:pPr algn="l"/>
                      <a:r>
                        <a:rPr sz="1200">
                          <a:solidFill>
                            <a:srgbClr val="101010"/>
                          </a:solidFill>
                          <a:latin typeface="Noto Sans CJK JP"/>
                        </a:rPr>
                        <a:t>run</a:t>
                      </a:r>
                    </a:p>
                  </a:txBody>
                  <a:tcPr>
                    <a:solidFill>
                      <a:srgbClr val="EEEEEE"/>
                    </a:solidFill>
                  </a:tcPr>
                </a:tc>
                <a:tc>
                  <a:txBody>
                    <a:bodyPr wrap="square"/>
                    <a:lstStyle/>
                    <a:p>
                      <a:pPr algn="l"/>
                      <a:r>
                        <a:rPr sz="1200">
                          <a:solidFill>
                            <a:srgbClr val="101010"/>
                          </a:solidFill>
                          <a:latin typeface="Noto Sans CJK JP"/>
                        </a:rPr>
                        <a:t>時間ステップ進行</a:t>
                      </a:r>
                    </a:p>
                  </a:txBody>
                  <a:tcPr>
                    <a:solidFill>
                      <a:srgbClr val="EEEEEE"/>
                    </a:solidFill>
                  </a:tcPr>
                </a:tc>
                <a:tc>
                  <a:txBody>
                    <a:bodyPr wrap="square"/>
                    <a:lstStyle/>
                    <a:p>
                      <a:pPr algn="l"/>
                      <a:r>
                        <a:rPr sz="1200">
                          <a:solidFill>
                            <a:srgbClr val="101010"/>
                          </a:solidFill>
                          <a:latin typeface="Noto Sans CJK JP"/>
                        </a:rPr>
                        <a:t>ntmax (default=1)</a:t>
                      </a:r>
                    </a:p>
                  </a:txBody>
                  <a:tcPr>
                    <a:solidFill>
                      <a:srgbClr val="EEEEEE"/>
                    </a:solidFill>
                  </a:tcPr>
                </a:tc>
              </a:tr>
              <a:tr h="512064">
                <a:tc>
                  <a:txBody>
                    <a:bodyPr wrap="square"/>
                    <a:lstStyle/>
                    <a:p>
                      <a:pPr algn="l"/>
                      <a:r>
                        <a:rPr sz="1200">
                          <a:solidFill>
                            <a:srgbClr val="101010"/>
                          </a:solidFill>
                          <a:latin typeface="Noto Sans CJK JP"/>
                        </a:rPr>
                        <a:t>get_state</a:t>
                      </a:r>
                    </a:p>
                  </a:txBody>
                  <a:tcPr>
                    <a:solidFill>
                      <a:srgbClr val="FFFFFF"/>
                    </a:solidFill>
                  </a:tcPr>
                </a:tc>
                <a:tc>
                  <a:txBody>
                    <a:bodyPr wrap="square"/>
                    <a:lstStyle/>
                    <a:p>
                      <a:pPr algn="l"/>
                      <a:r>
                        <a:rPr sz="1200">
                          <a:solidFill>
                            <a:srgbClr val="101010"/>
                          </a:solidFill>
                          <a:latin typeface="Noto Sans CJK JP"/>
                        </a:rPr>
                        <a:t>現在の状態取得</a:t>
                      </a:r>
                    </a:p>
                  </a:txBody>
                  <a:tcPr>
                    <a:solidFill>
                      <a:srgbClr val="FFFFFF"/>
                    </a:solidFill>
                  </a:tcPr>
                </a:tc>
                <a:tc>
                  <a:txBody>
                    <a:bodyPr wrap="square"/>
                    <a:lstStyle/>
                    <a:p>
                      <a:pPr algn="l"/>
                      <a:r>
                        <a:rPr sz="1200">
                          <a:solidFill>
                            <a:srgbClr val="101010"/>
                          </a:solidFill>
                          <a:latin typeface="Noto Sans CJK JP"/>
                        </a:rPr>
                        <a:t>なし</a:t>
                      </a:r>
                    </a:p>
                  </a:txBody>
                  <a:tcPr>
                    <a:solidFill>
                      <a:srgbClr val="FFFFFF"/>
                    </a:solidFill>
                  </a:tcPr>
                </a:tc>
              </a:tr>
              <a:tr h="512064">
                <a:tc>
                  <a:txBody>
                    <a:bodyPr wrap="square"/>
                    <a:lstStyle/>
                    <a:p>
                      <a:pPr algn="l"/>
                      <a:r>
                        <a:rPr sz="1200">
                          <a:solidFill>
                            <a:srgbClr val="101010"/>
                          </a:solidFill>
                          <a:latin typeface="Noto Sans CJK JP"/>
                        </a:rPr>
                        <a:t>finalize</a:t>
                      </a:r>
                    </a:p>
                  </a:txBody>
                  <a:tcPr>
                    <a:solidFill>
                      <a:srgbClr val="EEEEEE"/>
                    </a:solidFill>
                  </a:tcPr>
                </a:tc>
                <a:tc>
                  <a:txBody>
                    <a:bodyPr wrap="square"/>
                    <a:lstStyle/>
                    <a:p>
                      <a:pPr algn="l"/>
                      <a:r>
                        <a:rPr sz="1200">
                          <a:solidFill>
                            <a:srgbClr val="101010"/>
                          </a:solidFill>
                          <a:latin typeface="Noto Sans CJK JP"/>
                        </a:rPr>
                        <a:t>リソース解放</a:t>
                      </a:r>
                    </a:p>
                  </a:txBody>
                  <a:tcPr>
                    <a:solidFill>
                      <a:srgbClr val="EEEEEE"/>
                    </a:solidFill>
                  </a:tcPr>
                </a:tc>
                <a:tc>
                  <a:txBody>
                    <a:bodyPr wrap="square"/>
                    <a:lstStyle/>
                    <a:p>
                      <a:pPr algn="l"/>
                      <a:r>
                        <a:rPr sz="1200">
                          <a:solidFill>
                            <a:srgbClr val="101010"/>
                          </a:solidFill>
                          <a:latin typeface="Noto Sans CJK JP"/>
                        </a:rPr>
                        <a:t>なし</a:t>
                      </a:r>
                    </a:p>
                  </a:txBody>
                  <a:tcPr>
                    <a:solidFill>
                      <a:srgbClr val="EEEEEE"/>
                    </a:solidFill>
                  </a:tcPr>
                </a:tc>
              </a:tr>
              <a:tr h="512064">
                <a:tc>
                  <a:txBody>
                    <a:bodyPr wrap="square"/>
                    <a:lstStyle/>
                    <a:p>
                      <a:pPr algn="l"/>
                      <a:r>
                        <a:rPr sz="1200">
                          <a:solidFill>
                            <a:srgbClr val="101010"/>
                          </a:solidFill>
                          <a:latin typeface="Noto Sans CJK JP"/>
                        </a:rPr>
                        <a:t>describe_parameters</a:t>
                      </a:r>
                    </a:p>
                  </a:txBody>
                  <a:tcPr>
                    <a:solidFill>
                      <a:srgbClr val="FFFFFF"/>
                    </a:solidFill>
                  </a:tcPr>
                </a:tc>
                <a:tc>
                  <a:txBody>
                    <a:bodyPr wrap="square"/>
                    <a:lstStyle/>
                    <a:p>
                      <a:pPr algn="l"/>
                      <a:r>
                        <a:rPr sz="1200">
                          <a:solidFill>
                            <a:srgbClr val="101010"/>
                          </a:solidFill>
                          <a:latin typeface="Noto Sans CJK JP"/>
                        </a:rPr>
                        <a:t>パラメータ一覧と型・説明</a:t>
                      </a:r>
                    </a:p>
                  </a:txBody>
                  <a:tcPr>
                    <a:solidFill>
                      <a:srgbClr val="FFFFFF"/>
                    </a:solidFill>
                  </a:tcPr>
                </a:tc>
                <a:tc>
                  <a:txBody>
                    <a:bodyPr wrap="square"/>
                    <a:lstStyle/>
                    <a:p>
                      <a:pPr algn="l"/>
                      <a:r>
                        <a:rPr sz="1200">
                          <a:solidFill>
                            <a:srgbClr val="101010"/>
                          </a:solidFill>
                          <a:latin typeface="Noto Sans CJK JP"/>
                        </a:rPr>
                        <a:t>なし</a:t>
                      </a:r>
                    </a:p>
                  </a:txBody>
                  <a:tcPr>
                    <a:solidFill>
                      <a:srgbClr val="FFFFFF"/>
                    </a:solidFill>
                  </a:tcPr>
                </a:tc>
              </a:tr>
              <a:tr h="512064">
                <a:tc>
                  <a:txBody>
                    <a:bodyPr wrap="square"/>
                    <a:lstStyle/>
                    <a:p>
                      <a:pPr algn="l"/>
                      <a:r>
                        <a:rPr sz="1200">
                          <a:solidFill>
                            <a:srgbClr val="101010"/>
                          </a:solidFill>
                          <a:latin typeface="Noto Sans CJK JP"/>
                        </a:rPr>
                        <a:t>describe_state_schema</a:t>
                      </a:r>
                    </a:p>
                  </a:txBody>
                  <a:tcPr>
                    <a:solidFill>
                      <a:srgbClr val="EEEEEE"/>
                    </a:solidFill>
                  </a:tcPr>
                </a:tc>
                <a:tc>
                  <a:txBody>
                    <a:bodyPr wrap="square"/>
                    <a:lstStyle/>
                    <a:p>
                      <a:pPr algn="l"/>
                      <a:r>
                        <a:rPr sz="1200">
                          <a:solidFill>
                            <a:srgbClr val="101010"/>
                          </a:solidFill>
                          <a:latin typeface="Noto Sans CJK JP"/>
                        </a:rPr>
                        <a:t>get_state の JSON schema</a:t>
                      </a:r>
                    </a:p>
                  </a:txBody>
                  <a:tcPr>
                    <a:solidFill>
                      <a:srgbClr val="EEEEEE"/>
                    </a:solidFill>
                  </a:tcPr>
                </a:tc>
                <a:tc>
                  <a:txBody>
                    <a:bodyPr wrap="square"/>
                    <a:lstStyle/>
                    <a:p>
                      <a:pPr algn="l"/>
                      <a:r>
                        <a:rPr sz="1200">
                          <a:solidFill>
                            <a:srgbClr val="101010"/>
                          </a:solidFill>
                          <a:latin typeface="Noto Sans CJK JP"/>
                        </a:rPr>
                        <a:t>なし</a:t>
                      </a:r>
                    </a:p>
                  </a:txBody>
                  <a:tcPr>
                    <a:solidFill>
                      <a:srgbClr val="EEEEEE"/>
                    </a:solidFill>
                  </a:tcPr>
                </a:tc>
              </a:tr>
              <a:tr h="512064">
                <a:tc>
                  <a:txBody>
                    <a:bodyPr wrap="square"/>
                    <a:lstStyle/>
                    <a:p>
                      <a:pPr algn="l"/>
                      <a:r>
                        <a:rPr sz="1200">
                          <a:solidFill>
                            <a:srgbClr val="101010"/>
                          </a:solidFill>
                          <a:latin typeface="Noto Sans CJK JP"/>
                        </a:rPr>
                        <a:t>run_and_get_state</a:t>
                      </a:r>
                    </a:p>
                  </a:txBody>
                  <a:tcPr>
                    <a:solidFill>
                      <a:srgbClr val="FFFFFF"/>
                    </a:solidFill>
                  </a:tcPr>
                </a:tc>
                <a:tc>
                  <a:txBody>
                    <a:bodyPr wrap="square"/>
                    <a:lstStyle/>
                    <a:p>
                      <a:pPr algn="l"/>
                      <a:r>
                        <a:rPr sz="1200">
                          <a:solidFill>
                            <a:srgbClr val="101010"/>
                          </a:solidFill>
                          <a:latin typeface="Noto Sans CJK JP"/>
                        </a:rPr>
                        <a:t>init + set + run + get_state を一括</a:t>
                      </a:r>
                    </a:p>
                  </a:txBody>
                  <a:tcPr>
                    <a:solidFill>
                      <a:srgbClr val="FFFFFF"/>
                    </a:solidFill>
                  </a:tcPr>
                </a:tc>
                <a:tc>
                  <a:txBody>
                    <a:bodyPr wrap="square"/>
                    <a:lstStyle/>
                    <a:p>
                      <a:pPr algn="l"/>
                      <a:r>
                        <a:rPr sz="1200">
                          <a:solidFill>
                            <a:srgbClr val="101010"/>
                          </a:solidFill>
                          <a:latin typeface="Noto Sans CJK JP"/>
                        </a:rPr>
                        <a:t>params, ntmax</a:t>
                      </a:r>
                    </a:p>
                  </a:txBody>
                  <a:tcPr>
                    <a:solidFill>
                      <a:srgbClr val="FFFFFF"/>
                    </a:solidFill>
                  </a:tcPr>
                </a:tc>
              </a:tr>
            </a:tbl>
          </a:graphicData>
        </a:graphic>
      </p:graphicFrame>
      <p:sp>
        <p:nvSpPr>
          <p:cNvPr id="6" name="TextBox 5"/>
          <p:cNvSpPr txBox="1"/>
          <p:nvPr/>
        </p:nvSpPr>
        <p:spPr>
          <a:xfrm>
            <a:off x="8412480" y="1188720"/>
            <a:ext cx="3383280" cy="5120640"/>
          </a:xfrm>
          <a:prstGeom prst="rect">
            <a:avLst/>
          </a:prstGeom>
          <a:noFill/>
        </p:spPr>
        <p:txBody>
          <a:bodyPr wrap="square" lIns="36000" rIns="36000" tIns="18000" bIns="18000">
            <a:spAutoFit/>
          </a:bodyPr>
          <a:lstStyle/>
          <a:p>
            <a:pPr algn="l">
              <a:spcAft>
                <a:spcPts val="600"/>
              </a:spcAft>
            </a:pPr>
            <a:r>
              <a:rPr sz="1300">
                <a:solidFill>
                  <a:srgbClr val="101010"/>
                </a:solidFill>
                <a:latin typeface="Noto Sans CJK JP"/>
              </a:rPr>
              <a:t>・ 全モジュール (tr / fp / ti / wr / wrx) で同じ 9 ツール構成。</a:t>
            </a:r>
          </a:p>
          <a:p>
            <a:pPr algn="l">
              <a:spcAft>
                <a:spcPts val="600"/>
              </a:spcAft>
            </a:pPr>
            <a:r>
              <a:rPr sz="1300">
                <a:solidFill>
                  <a:srgbClr val="101010"/>
                </a:solidFill>
                <a:latin typeface="Noto Sans CJK JP"/>
              </a:rPr>
              <a:t>・ describe_* は LLM の自己発見用。</a:t>
            </a:r>
          </a:p>
          <a:p>
            <a:pPr algn="l">
              <a:spcAft>
                <a:spcPts val="600"/>
              </a:spcAft>
            </a:pPr>
            <a:r>
              <a:rPr sz="1300">
                <a:solidFill>
                  <a:srgbClr val="101010"/>
                </a:solidFill>
                <a:latin typeface="Noto Sans CJK JP"/>
              </a:rPr>
              <a:t>・ run_and_get_state は会話ターン数を抑える複合ツール。</a:t>
            </a:r>
          </a:p>
          <a:p>
            <a:pPr algn="l">
              <a:spcAft>
                <a:spcPts val="600"/>
              </a:spcAft>
            </a:pPr>
            <a:r>
              <a:rPr sz="1300">
                <a:solidFill>
                  <a:srgbClr val="101010"/>
                </a:solidFill>
                <a:latin typeface="Noto Sans CJK JP"/>
              </a:rPr>
              <a:t>・ Phase 2: plot ツール追加予定。</a:t>
            </a:r>
          </a:p>
          <a:p>
            <a:pPr algn="l">
              <a:spcAft>
                <a:spcPts val="600"/>
              </a:spcAft>
            </a:pPr>
            <a:r>
              <a:rPr sz="1300">
                <a:solidFill>
                  <a:srgbClr val="101010"/>
                </a:solidFill>
                <a:latin typeface="Noto Sans CJK JP"/>
              </a:rPr>
              <a:t>・ Phase 3: TOML 入力対応予定。</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成果サマリ (インフォグラフィック)</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数字で見るプロジェクト規模</a:t>
            </a:r>
          </a:p>
        </p:txBody>
      </p:sp>
      <p:sp>
        <p:nvSpPr>
          <p:cNvPr id="5" name="Rounded Rectangle 4"/>
          <p:cNvSpPr/>
          <p:nvPr/>
        </p:nvSpPr>
        <p:spPr>
          <a:xfrm>
            <a:off x="365760" y="1371600"/>
            <a:ext cx="2743200" cy="237744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wrap="square" tIns="54000" bIns="54000"/>
          <a:lstStyle/>
          <a:p>
            <a:pPr algn="ctr"/>
            <a:r>
              <a:rPr sz="5600" b="1">
                <a:solidFill>
                  <a:srgbClr val="FFFFFF"/>
                </a:solidFill>
                <a:latin typeface="Noto Sans CJK JP"/>
              </a:rPr>
              <a:t>96+</a:t>
            </a:r>
          </a:p>
          <a:p>
            <a:pPr algn="ctr"/>
            <a:r>
              <a:rPr sz="1600" b="1">
                <a:solidFill>
                  <a:srgbClr val="FFFFFF"/>
                </a:solidFill>
                <a:latin typeface="Noto Sans CJK JP"/>
              </a:rPr>
              <a:t>merged PR</a:t>
            </a:r>
          </a:p>
          <a:p>
            <a:pPr algn="ctr"/>
            <a:r>
              <a:rPr sz="1100">
                <a:solidFill>
                  <a:srgbClr val="FFFFFF"/>
                </a:solidFill>
                <a:latin typeface="Noto Sans CJK JP"/>
              </a:rPr>
              <a:t>PR #1 〜 #96</a:t>
            </a:r>
          </a:p>
        </p:txBody>
      </p:sp>
      <p:sp>
        <p:nvSpPr>
          <p:cNvPr id="6" name="Rounded Rectangle 5"/>
          <p:cNvSpPr/>
          <p:nvPr/>
        </p:nvSpPr>
        <p:spPr>
          <a:xfrm>
            <a:off x="3291840" y="1371600"/>
            <a:ext cx="2743200" cy="2377440"/>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tIns="54000" bIns="54000"/>
          <a:lstStyle/>
          <a:p>
            <a:pPr algn="ctr"/>
            <a:r>
              <a:rPr sz="5600" b="1">
                <a:solidFill>
                  <a:srgbClr val="FFFFFF"/>
                </a:solidFill>
                <a:latin typeface="Noto Sans CJK JP"/>
              </a:rPr>
              <a:t>7</a:t>
            </a:r>
          </a:p>
          <a:p>
            <a:pPr algn="ctr"/>
            <a:r>
              <a:rPr sz="1600" b="1">
                <a:solidFill>
                  <a:srgbClr val="FFFFFF"/>
                </a:solidFill>
                <a:latin typeface="Noto Sans CJK JP"/>
              </a:rPr>
              <a:t>対象モジュール</a:t>
            </a:r>
          </a:p>
          <a:p>
            <a:pPr algn="ctr"/>
            <a:r>
              <a:rPr sz="1100">
                <a:solidFill>
                  <a:srgbClr val="FFFFFF"/>
                </a:solidFill>
                <a:latin typeface="Noto Sans CJK JP"/>
              </a:rPr>
              <a:t>全 module 完了</a:t>
            </a:r>
          </a:p>
        </p:txBody>
      </p:sp>
      <p:sp>
        <p:nvSpPr>
          <p:cNvPr id="7" name="Rounded Rectangle 6"/>
          <p:cNvSpPr/>
          <p:nvPr/>
        </p:nvSpPr>
        <p:spPr>
          <a:xfrm>
            <a:off x="6217920" y="1371600"/>
            <a:ext cx="2743200" cy="237744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wrap="square" tIns="54000" bIns="54000"/>
          <a:lstStyle/>
          <a:p>
            <a:pPr algn="ctr"/>
            <a:r>
              <a:rPr sz="5600" b="1">
                <a:solidFill>
                  <a:srgbClr val="FFFFFF"/>
                </a:solidFill>
                <a:latin typeface="Noto Sans CJK JP"/>
              </a:rPr>
              <a:t>28+</a:t>
            </a:r>
          </a:p>
          <a:p>
            <a:pPr algn="ctr"/>
            <a:r>
              <a:rPr sz="1600" b="1">
                <a:solidFill>
                  <a:srgbClr val="FFFFFF"/>
                </a:solidFill>
                <a:latin typeface="Noto Sans CJK JP"/>
              </a:rPr>
              <a:t>tests / module</a:t>
            </a:r>
          </a:p>
          <a:p>
            <a:pPr algn="ctr"/>
            <a:r>
              <a:rPr sz="1100">
                <a:solidFill>
                  <a:srgbClr val="FFFFFF"/>
                </a:solidFill>
                <a:latin typeface="Noto Sans CJK JP"/>
              </a:rPr>
              <a:t>4 層 × 7 モジュール</a:t>
            </a:r>
          </a:p>
        </p:txBody>
      </p:sp>
      <p:sp>
        <p:nvSpPr>
          <p:cNvPr id="8" name="Rounded Rectangle 7"/>
          <p:cNvSpPr/>
          <p:nvPr/>
        </p:nvSpPr>
        <p:spPr>
          <a:xfrm>
            <a:off x="9144000" y="1371600"/>
            <a:ext cx="2743200" cy="237744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wrap="square" tIns="54000" bIns="54000"/>
          <a:lstStyle/>
          <a:p>
            <a:pPr algn="ctr"/>
            <a:r>
              <a:rPr sz="5600" b="1">
                <a:solidFill>
                  <a:srgbClr val="FFFFFF"/>
                </a:solidFill>
                <a:latin typeface="Noto Sans CJK JP"/>
              </a:rPr>
              <a:t>9 × 6</a:t>
            </a:r>
          </a:p>
          <a:p>
            <a:pPr algn="ctr"/>
            <a:r>
              <a:rPr sz="1600" b="1">
                <a:solidFill>
                  <a:srgbClr val="FFFFFF"/>
                </a:solidFill>
                <a:latin typeface="Noto Sans CJK JP"/>
              </a:rPr>
              <a:t>MCP ツール × server</a:t>
            </a:r>
          </a:p>
          <a:p>
            <a:pPr algn="ctr"/>
            <a:r>
              <a:rPr sz="1100">
                <a:solidFill>
                  <a:srgbClr val="FFFFFF"/>
                </a:solidFill>
                <a:latin typeface="Noto Sans CJK JP"/>
              </a:rPr>
              <a:t>tr/fp/ti/wr/wrx/tot</a:t>
            </a:r>
          </a:p>
        </p:txBody>
      </p:sp>
      <p:sp>
        <p:nvSpPr>
          <p:cNvPr id="9" name="Rounded Rectangle 8"/>
          <p:cNvSpPr/>
          <p:nvPr/>
        </p:nvSpPr>
        <p:spPr>
          <a:xfrm>
            <a:off x="365760" y="4023360"/>
            <a:ext cx="11521440" cy="82296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ドキュメント: SKILL.md (PR #84) + 日本語マニュアル PDF (PR #73) + 各モジュール architecture.md</a:t>
            </a:r>
          </a:p>
        </p:txBody>
      </p:sp>
      <p:sp>
        <p:nvSpPr>
          <p:cNvPr id="10" name="Rounded Rectangle 9"/>
          <p:cNvSpPr/>
          <p:nvPr/>
        </p:nvSpPr>
        <p:spPr>
          <a:xfrm>
            <a:off x="365760" y="4937760"/>
            <a:ext cx="11521440" cy="822960"/>
          </a:xfrm>
          <a:prstGeom prst="roundRect">
            <a:avLst/>
          </a:prstGeom>
          <a:solidFill>
            <a:srgbClr val="555555"/>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テスト基盤: Phase 0 baseline 全モジュール整備 (test_run/baselines/) + 4 層テスト + Cursor Bugbot レビュー</a:t>
            </a:r>
          </a:p>
        </p:txBody>
      </p:sp>
      <p:sp>
        <p:nvSpPr>
          <p:cNvPr id="11" name="Rounded Rectangle 10"/>
          <p:cNvSpPr/>
          <p:nvPr/>
        </p:nvSpPr>
        <p:spPr>
          <a:xfrm>
            <a:off x="365760" y="5852160"/>
            <a:ext cx="11521440" cy="640080"/>
          </a:xfrm>
          <a:prstGeom prst="roundRect">
            <a:avLst/>
          </a:prstGeom>
          <a:solidFill>
            <a:srgbClr val="1B5E2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400" b="1">
                <a:solidFill>
                  <a:srgbClr val="FFFFFF"/>
                </a:solidFill>
                <a:latin typeface="Noto Sans CJK JP"/>
              </a:rPr>
              <a:t>互換性: 既存 CLI バイナリ (tr2 / fp / ti / wr / wrx / eq) は一切変更なし。共有ライブラリは追加機能。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残作業</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Phase L 完遂と横展開タスク</a:t>
            </a:r>
          </a:p>
        </p:txBody>
      </p:sp>
      <p:sp>
        <p:nvSpPr>
          <p:cNvPr id="5" name="TextBox 4"/>
          <p:cNvSpPr txBox="1"/>
          <p:nvPr/>
        </p:nvSpPr>
        <p:spPr>
          <a:xfrm>
            <a:off x="457200" y="1188720"/>
            <a:ext cx="11247120" cy="5029200"/>
          </a:xfrm>
          <a:prstGeom prst="rect">
            <a:avLst/>
          </a:prstGeom>
          <a:noFill/>
        </p:spPr>
        <p:txBody>
          <a:bodyPr wrap="square" lIns="36000" rIns="36000" tIns="18000" bIns="18000">
            <a:spAutoFit/>
          </a:bodyPr>
          <a:lstStyle/>
          <a:p>
            <a:pPr algn="l">
              <a:spcAft>
                <a:spcPts val="600"/>
              </a:spcAft>
            </a:pPr>
            <a:r>
              <a:rPr sz="1500">
                <a:solidFill>
                  <a:srgbClr val="101010"/>
                </a:solidFill>
                <a:latin typeface="Noto Sans CJK JP"/>
              </a:rPr>
              <a:t>・ 可視化 API: trlib に plot(varname) + TOML runner reference 実装中 (PR #83) → fp/ti/wr/wrx/eq/tot に横展開。</a:t>
            </a:r>
          </a:p>
          <a:p>
            <a:pPr algn="l">
              <a:spcAft>
                <a:spcPts val="600"/>
              </a:spcAft>
            </a:pPr>
            <a:r>
              <a:rPr sz="1500">
                <a:solidFill>
                  <a:srgbClr val="101010"/>
                </a:solidFill>
                <a:latin typeface="Noto Sans CJK JP"/>
              </a:rPr>
              <a:t>・ TOML config runner: python -m &lt;X&gt;lib config.toml を全モジュールに展開。</a:t>
            </a:r>
          </a:p>
          <a:p>
            <a:pPr algn="l">
              <a:spcAft>
                <a:spcPts val="600"/>
              </a:spcAft>
            </a:pPr>
            <a:r>
              <a:rPr sz="1500">
                <a:solidFill>
                  <a:srgbClr val="101010"/>
                </a:solidFill>
                <a:latin typeface="Noto Sans CJK JP"/>
              </a:rPr>
              <a:t>・ MCP plot ツール: base64 PNG 返却を 6 サーバ全部に追加 (plot/plot_sweep/plot_available)。</a:t>
            </a:r>
          </a:p>
          <a:p>
            <a:pPr algn="l">
              <a:spcAft>
                <a:spcPts val="600"/>
              </a:spcAft>
            </a:pPr>
            <a:r>
              <a:rPr sz="1500">
                <a:solidFill>
                  <a:srgbClr val="101010"/>
                </a:solidFill>
                <a:latin typeface="Noto Sans CJK JP"/>
              </a:rPr>
              <a:t>・ Tutorial notebooks: Jupyter で利用シナリオ別に整備 (parameter sweep / 最適化 / LLM 連携)。</a:t>
            </a:r>
          </a:p>
          <a:p>
            <a:pPr algn="l">
              <a:spcAft>
                <a:spcPts val="600"/>
              </a:spcAft>
            </a:pPr>
            <a:r>
              <a:rPr sz="1500">
                <a:solidFill>
                  <a:srgbClr val="101010"/>
                </a:solidFill>
                <a:latin typeface="Noto Sans CJK JP"/>
              </a:rPr>
              <a:t>・ Per-module Fortran-side README: 設計方針・invariant 集約 (English)。</a:t>
            </a:r>
          </a:p>
          <a:p>
            <a:pPr algn="l">
              <a:spcAft>
                <a:spcPts val="600"/>
              </a:spcAft>
            </a:pPr>
            <a:r>
              <a:rPr sz="1500">
                <a:solidFill>
                  <a:srgbClr val="101010"/>
                </a:solidFill>
                <a:latin typeface="Noto Sans CJK JP"/>
              </a:rPr>
              <a:t>・ tot 最適化ドライバ: scipy/optuna 連携 (元 L-7 plan の延長)。</a:t>
            </a:r>
          </a:p>
          <a:p>
            <a:pPr algn="l">
              <a:spcAft>
                <a:spcPts val="600"/>
              </a:spcAft>
            </a:pPr>
            <a:r>
              <a:rPr sz="1500">
                <a:solidFill>
                  <a:srgbClr val="101010"/>
                </a:solidFill>
                <a:latin typeface="Noto Sans CJK JP"/>
              </a:rPr>
              <a:t>・ MCP 利用マニュアル: 素人向け、Claude Desktop / Cursor 登録手順含む。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今後の発展</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ライブラリ化を起点とした応用展開</a:t>
            </a:r>
          </a:p>
        </p:txBody>
      </p:sp>
      <p:sp>
        <p:nvSpPr>
          <p:cNvPr id="5" name="TextBox 4"/>
          <p:cNvSpPr txBox="1"/>
          <p:nvPr/>
        </p:nvSpPr>
        <p:spPr>
          <a:xfrm>
            <a:off x="457200" y="1188720"/>
            <a:ext cx="11247120" cy="5029200"/>
          </a:xfrm>
          <a:prstGeom prst="rect">
            <a:avLst/>
          </a:prstGeom>
          <a:noFill/>
        </p:spPr>
        <p:txBody>
          <a:bodyPr wrap="square" lIns="36000" rIns="36000" tIns="18000" bIns="18000">
            <a:spAutoFit/>
          </a:bodyPr>
          <a:lstStyle/>
          <a:p>
            <a:pPr algn="l">
              <a:spcAft>
                <a:spcPts val="600"/>
              </a:spcAft>
            </a:pPr>
            <a:r>
              <a:rPr sz="1500">
                <a:solidFill>
                  <a:srgbClr val="101010"/>
                </a:solidFill>
                <a:latin typeface="Noto Sans CJK JP"/>
              </a:rPr>
              <a:t>・ Tutorial notebooks (Jupyter): モジュール別の入門 → 応用ストーリー。</a:t>
            </a:r>
          </a:p>
          <a:p>
            <a:pPr algn="l">
              <a:spcAft>
                <a:spcPts val="600"/>
              </a:spcAft>
            </a:pPr>
            <a:r>
              <a:rPr sz="1500">
                <a:solidFill>
                  <a:srgbClr val="101010"/>
                </a:solidFill>
                <a:latin typeface="Noto Sans CJK JP"/>
              </a:rPr>
              <a:t>・ 可視化レイヤ拡張: matplotlib + plotly を切替可能に、対話 GUI への接続。</a:t>
            </a:r>
          </a:p>
          <a:p>
            <a:pPr algn="l">
              <a:spcAft>
                <a:spcPts val="600"/>
              </a:spcAft>
            </a:pPr>
            <a:r>
              <a:rPr sz="1500">
                <a:solidFill>
                  <a:srgbClr val="101010"/>
                </a:solidFill>
                <a:latin typeface="Noto Sans CJK JP"/>
              </a:rPr>
              <a:t>・ MCP 利用マニュアル: Claude Desktop / Claude Code / Cursor それぞれのセットアップ手順を整備。</a:t>
            </a:r>
          </a:p>
          <a:p>
            <a:pPr algn="l">
              <a:spcAft>
                <a:spcPts val="600"/>
              </a:spcAft>
            </a:pPr>
            <a:r>
              <a:rPr sz="1500">
                <a:solidFill>
                  <a:srgbClr val="101010"/>
                </a:solidFill>
                <a:latin typeface="Noto Sans CJK JP"/>
              </a:rPr>
              <a:t>・ パラメータ最適化応用: scipy.optimize や bayesian-optimization と連携 (RR / BB / 輸送係数 など)。</a:t>
            </a:r>
          </a:p>
          <a:p>
            <a:pPr algn="l">
              <a:spcAft>
                <a:spcPts val="600"/>
              </a:spcAft>
            </a:pPr>
            <a:r>
              <a:rPr sz="1500">
                <a:solidFill>
                  <a:srgbClr val="101010"/>
                </a:solidFill>
                <a:latin typeface="Noto Sans CJK JP"/>
              </a:rPr>
              <a:t>・ データ同化: 実験データへのフィッティング (TOKAMAK 実機計測との突合)。</a:t>
            </a:r>
          </a:p>
          <a:p>
            <a:pPr algn="l">
              <a:spcAft>
                <a:spcPts val="600"/>
              </a:spcAft>
            </a:pPr>
            <a:r>
              <a:rPr sz="1500">
                <a:solidFill>
                  <a:srgbClr val="101010"/>
                </a:solidFill>
                <a:latin typeface="Noto Sans CJK JP"/>
              </a:rPr>
              <a:t>・ モジュール間結合: tot を介して tr ↔ wr ↔ fp を Python レベルで連結。</a:t>
            </a:r>
          </a:p>
          <a:p>
            <a:pPr algn="l">
              <a:spcAft>
                <a:spcPts val="600"/>
              </a:spcAft>
            </a:pPr>
            <a:r>
              <a:rPr sz="1500">
                <a:solidFill>
                  <a:srgbClr val="101010"/>
                </a:solidFill>
                <a:latin typeface="Noto Sans CJK JP"/>
              </a:rPr>
              <a:t>・ MCP マルチエージェント: モジュールごとのサブエージェントによる協調計算。</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Q&amp;A 用補足: 設計上の工夫</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実装を支えた 4 つの設計判断</a:t>
            </a:r>
          </a:p>
        </p:txBody>
      </p:sp>
      <p:sp>
        <p:nvSpPr>
          <p:cNvPr id="5" name="Rounded Rectangle 4"/>
          <p:cNvSpPr/>
          <p:nvPr/>
        </p:nvSpPr>
        <p:spPr>
          <a:xfrm>
            <a:off x="365760" y="1280160"/>
            <a:ext cx="5623560" cy="2103120"/>
          </a:xfrm>
          <a:prstGeom prst="roundRect">
            <a:avLst/>
          </a:prstGeom>
          <a:solidFill>
            <a:srgbClr val="1F4E79"/>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shim policy (Phase F)</a:t>
            </a:r>
          </a:p>
          <a:p>
            <a:pPr algn="ctr"/>
            <a:r>
              <a:rPr sz="1200">
                <a:solidFill>
                  <a:srgbClr val="FFFFFF"/>
                </a:solidFill>
                <a:latin typeface="Noto Sans CJK JP"/>
              </a:rPr>
              <a:t>COMMON ↔ MODULE を一時的に共存。grep ゼロ後に旧 INCLUDE を撤去。</a:t>
            </a:r>
          </a:p>
        </p:txBody>
      </p:sp>
      <p:sp>
        <p:nvSpPr>
          <p:cNvPr id="6" name="Rounded Rectangle 5"/>
          <p:cNvSpPr/>
          <p:nvPr/>
        </p:nvSpPr>
        <p:spPr>
          <a:xfrm>
            <a:off x="6172200" y="1280160"/>
            <a:ext cx="5623560" cy="2103120"/>
          </a:xfrm>
          <a:prstGeom prst="roundRect">
            <a:avLst/>
          </a:prstGeom>
          <a:solidFill>
            <a:srgbClr val="2E7D32"/>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RTLD_LAZY + --unresolved-symbols</a:t>
            </a:r>
          </a:p>
          <a:p>
            <a:pPr algn="ctr"/>
            <a:r>
              <a:rPr sz="1200">
                <a:solidFill>
                  <a:srgbClr val="FFFFFF"/>
                </a:solidFill>
                <a:latin typeface="Noto Sans CJK JP"/>
              </a:rPr>
              <a:t>graphics シンボル未解決でも .so は dlopen 可。CLI 側は従来どおり結合。</a:t>
            </a:r>
          </a:p>
        </p:txBody>
      </p:sp>
      <p:sp>
        <p:nvSpPr>
          <p:cNvPr id="7" name="Rounded Rectangle 6"/>
          <p:cNvSpPr/>
          <p:nvPr/>
        </p:nvSpPr>
        <p:spPr>
          <a:xfrm>
            <a:off x="365760" y="3566160"/>
            <a:ext cx="5623560" cy="2103120"/>
          </a:xfrm>
          <a:prstGeom prst="roundRect">
            <a:avLst/>
          </a:prstGeom>
          <a:solidFill>
            <a:srgbClr val="EF6C00"/>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Name collision: BIND(C, NAME=...) + USE alias</a:t>
            </a:r>
          </a:p>
          <a:p>
            <a:pPr algn="ctr"/>
            <a:r>
              <a:rPr sz="1200">
                <a:solidFill>
                  <a:srgbClr val="FFFFFF"/>
                </a:solidFill>
                <a:latin typeface="Noto Sans CJK JP"/>
              </a:rPr>
              <a:t>Fortran 側名前衝突を BIND(C) のリネームと USE module, only: ... =&gt; alias で解消。</a:t>
            </a:r>
          </a:p>
        </p:txBody>
      </p:sp>
      <p:sp>
        <p:nvSpPr>
          <p:cNvPr id="8" name="Rounded Rectangle 7"/>
          <p:cNvSpPr/>
          <p:nvPr/>
        </p:nvSpPr>
        <p:spPr>
          <a:xfrm>
            <a:off x="6172200" y="3566160"/>
            <a:ext cx="5623560" cy="2103120"/>
          </a:xfrm>
          <a:prstGeom prst="roundRect">
            <a:avLst/>
          </a:prstGeom>
          <a:solidFill>
            <a:srgbClr val="6A1B9A"/>
          </a:solid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36000" bIns="36000"/>
          <a:lstStyle/>
          <a:p>
            <a:pPr algn="ctr"/>
            <a:r>
              <a:rPr sz="1500" b="1">
                <a:solidFill>
                  <a:srgbClr val="FFFFFF"/>
                </a:solidFill>
                <a:latin typeface="Noto Sans CJK JP"/>
              </a:rPr>
              <a:t>Error code 0..4 + 例外階層</a:t>
            </a:r>
          </a:p>
          <a:p>
            <a:pPr algn="ctr"/>
            <a:r>
              <a:rPr sz="1200">
                <a:solidFill>
                  <a:srgbClr val="FFFFFF"/>
                </a:solidFill>
                <a:latin typeface="Noto Sans CJK JP"/>
              </a:rPr>
              <a:t>0=success / 1=ParamError / 2=StateError / 3=RunError / 4=NotImplemented を一貫マップ。</a:t>
            </a:r>
          </a:p>
        </p:txBody>
      </p:sp>
      <p:sp>
        <p:nvSpPr>
          <p:cNvPr id="9" name="TextBox 8"/>
          <p:cNvSpPr txBox="1"/>
          <p:nvPr/>
        </p:nvSpPr>
        <p:spPr>
          <a:xfrm>
            <a:off x="365760" y="5852160"/>
            <a:ext cx="11521440" cy="548640"/>
          </a:xfrm>
          <a:prstGeom prst="rect">
            <a:avLst/>
          </a:prstGeom>
          <a:noFill/>
        </p:spPr>
        <p:txBody>
          <a:bodyPr wrap="square" lIns="36000" rIns="36000" tIns="18000" bIns="18000" anchor="t">
            <a:spAutoFit/>
          </a:bodyPr>
          <a:lstStyle/>
          <a:p>
            <a:pPr algn="l"/>
            <a:r>
              <a:rPr sz="1200" b="0">
                <a:solidFill>
                  <a:srgbClr val="555555"/>
                </a:solidFill>
                <a:latin typeface="Noto Sans CJK JP"/>
              </a:rPr>
              <a:t>詳細はリポジトリの docs/superpowers/specs/ 配下と SKILL.md (PR #84) を参照してください。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60175" cy="594360"/>
          </a:xfrm>
          <a:prstGeom prst="rect">
            <a:avLst/>
          </a:prstGeom>
          <a:noFill/>
        </p:spPr>
        <p:txBody>
          <a:bodyPr wrap="square" lIns="36000" rIns="36000" tIns="18000" bIns="18000" anchor="ctr">
            <a:spAutoFit/>
          </a:bodyPr>
          <a:lstStyle/>
          <a:p>
            <a:pPr algn="l"/>
            <a:r>
              <a:rPr sz="2600" b="1">
                <a:solidFill>
                  <a:srgbClr val="FFFFFF"/>
                </a:solidFill>
                <a:latin typeface="Noto Sans CJK JP"/>
              </a:rPr>
              <a:t>まとめ・参考資料</a:t>
            </a:r>
          </a:p>
        </p:txBody>
      </p:sp>
      <p:sp>
        <p:nvSpPr>
          <p:cNvPr id="4" name="TextBox 3"/>
          <p:cNvSpPr txBox="1"/>
          <p:nvPr/>
        </p:nvSpPr>
        <p:spPr>
          <a:xfrm>
            <a:off x="365760" y="841248"/>
            <a:ext cx="11460175" cy="365760"/>
          </a:xfrm>
          <a:prstGeom prst="rect">
            <a:avLst/>
          </a:prstGeom>
          <a:noFill/>
        </p:spPr>
        <p:txBody>
          <a:bodyPr wrap="square" lIns="36000" rIns="36000" tIns="18000" bIns="18000" anchor="t">
            <a:spAutoFit/>
          </a:bodyPr>
          <a:lstStyle/>
          <a:p>
            <a:pPr algn="l"/>
            <a:r>
              <a:rPr sz="1400" b="0">
                <a:solidFill>
                  <a:srgbClr val="555555"/>
                </a:solidFill>
                <a:latin typeface="Noto Sans CJK JP"/>
              </a:rPr>
              <a:t>リポジトリ・マニュアル・SKILL.md</a:t>
            </a:r>
          </a:p>
        </p:txBody>
      </p:sp>
      <p:sp>
        <p:nvSpPr>
          <p:cNvPr id="5" name="TextBox 4"/>
          <p:cNvSpPr txBox="1"/>
          <p:nvPr/>
        </p:nvSpPr>
        <p:spPr>
          <a:xfrm>
            <a:off x="457200" y="1188720"/>
            <a:ext cx="11247120" cy="2377440"/>
          </a:xfrm>
          <a:prstGeom prst="rect">
            <a:avLst/>
          </a:prstGeom>
          <a:noFill/>
        </p:spPr>
        <p:txBody>
          <a:bodyPr wrap="square" lIns="36000" rIns="36000" tIns="18000" bIns="18000">
            <a:spAutoFit/>
          </a:bodyPr>
          <a:lstStyle/>
          <a:p>
            <a:pPr algn="l">
              <a:spcAft>
                <a:spcPts val="600"/>
              </a:spcAft>
            </a:pPr>
            <a:r>
              <a:rPr sz="1500">
                <a:solidFill>
                  <a:srgbClr val="101010"/>
                </a:solidFill>
                <a:latin typeface="Noto Sans CJK JP"/>
              </a:rPr>
              <a:t>・ TASK の 7 モジュールを共有ライブラリ + Python ラッパ + MCP サーバとして利用可能にしました。</a:t>
            </a:r>
          </a:p>
          <a:p>
            <a:pPr algn="l">
              <a:spcAft>
                <a:spcPts val="600"/>
              </a:spcAft>
            </a:pPr>
            <a:r>
              <a:rPr sz="1500">
                <a:solidFill>
                  <a:srgbClr val="101010"/>
                </a:solidFill>
                <a:latin typeface="Noto Sans CJK JP"/>
              </a:rPr>
              <a:t>・ 既存の CLI バイナリは無変更で、追加機能としての安全な拡張です。</a:t>
            </a:r>
          </a:p>
          <a:p>
            <a:pPr algn="l">
              <a:spcAft>
                <a:spcPts val="600"/>
              </a:spcAft>
            </a:pPr>
            <a:r>
              <a:rPr sz="1500">
                <a:solidFill>
                  <a:srgbClr val="101010"/>
                </a:solidFill>
                <a:latin typeface="Noto Sans CJK JP"/>
              </a:rPr>
              <a:t>・ テストは 4 層構成 (等価性 / C ABI / Python / スイープ) で 1e-10 の数値同等性を保証。</a:t>
            </a:r>
          </a:p>
          <a:p>
            <a:pPr algn="l">
              <a:spcAft>
                <a:spcPts val="600"/>
              </a:spcAft>
            </a:pPr>
            <a:r>
              <a:rPr sz="1500">
                <a:solidFill>
                  <a:srgbClr val="101010"/>
                </a:solidFill>
                <a:latin typeface="Noto Sans CJK JP"/>
              </a:rPr>
              <a:t>・ 再利用可能な SKILL.md と日本語マニュアルにより、新規モジュールへの横展開が容易です。</a:t>
            </a:r>
          </a:p>
        </p:txBody>
      </p:sp>
      <p:graphicFrame>
        <p:nvGraphicFramePr>
          <p:cNvPr id="6" name="Table 5"/>
          <p:cNvGraphicFramePr>
            <a:graphicFrameLocks noGrp="1"/>
          </p:cNvGraphicFramePr>
          <p:nvPr/>
        </p:nvGraphicFramePr>
        <p:xfrm>
          <a:off x="457200" y="3703320"/>
          <a:ext cx="11247120" cy="2651760"/>
        </p:xfrm>
        <a:graphic>
          <a:graphicData uri="http://schemas.openxmlformats.org/drawingml/2006/table">
            <a:tbl>
              <a:tblPr firstRow="1" bandRow="1">
                <a:tableStyleId>{5C22544A-7EE6-4342-B048-85BDC9FD1C3A}</a:tableStyleId>
              </a:tblPr>
              <a:tblGrid>
                <a:gridCol w="5623560"/>
                <a:gridCol w="5623560"/>
              </a:tblGrid>
              <a:tr h="331470">
                <a:tc>
                  <a:txBody>
                    <a:bodyPr wrap="square"/>
                    <a:lstStyle/>
                    <a:p>
                      <a:pPr algn="l"/>
                      <a:r>
                        <a:rPr sz="1300" b="1">
                          <a:solidFill>
                            <a:srgbClr val="FFFFFF"/>
                          </a:solidFill>
                          <a:latin typeface="Noto Sans CJK JP"/>
                        </a:rPr>
                        <a:t>種別</a:t>
                      </a:r>
                    </a:p>
                  </a:txBody>
                  <a:tcPr>
                    <a:solidFill>
                      <a:srgbClr val="0D47A1"/>
                    </a:solidFill>
                  </a:tcPr>
                </a:tc>
                <a:tc>
                  <a:txBody>
                    <a:bodyPr wrap="square"/>
                    <a:lstStyle/>
                    <a:p>
                      <a:pPr algn="l"/>
                      <a:r>
                        <a:rPr sz="1300" b="1">
                          <a:solidFill>
                            <a:srgbClr val="FFFFFF"/>
                          </a:solidFill>
                          <a:latin typeface="Noto Sans CJK JP"/>
                        </a:rPr>
                        <a:t>場所</a:t>
                      </a:r>
                    </a:p>
                  </a:txBody>
                  <a:tcPr>
                    <a:solidFill>
                      <a:srgbClr val="0D47A1"/>
                    </a:solidFill>
                  </a:tcPr>
                </a:tc>
              </a:tr>
              <a:tr h="331470">
                <a:tc>
                  <a:txBody>
                    <a:bodyPr wrap="square"/>
                    <a:lstStyle/>
                    <a:p>
                      <a:pPr algn="l"/>
                      <a:r>
                        <a:rPr sz="1300">
                          <a:solidFill>
                            <a:srgbClr val="101010"/>
                          </a:solidFill>
                          <a:latin typeface="Noto Sans CJK JP"/>
                        </a:rPr>
                        <a:t>リポジトリ</a:t>
                      </a:r>
                    </a:p>
                  </a:txBody>
                  <a:tcPr>
                    <a:solidFill>
                      <a:srgbClr val="FFFFFF"/>
                    </a:solidFill>
                  </a:tcPr>
                </a:tc>
                <a:tc>
                  <a:txBody>
                    <a:bodyPr wrap="square"/>
                    <a:lstStyle/>
                    <a:p>
                      <a:pPr algn="l"/>
                      <a:r>
                        <a:rPr sz="1300">
                          <a:solidFill>
                            <a:srgbClr val="101010"/>
                          </a:solidFill>
                          <a:latin typeface="Noto Sans CJK JP"/>
                        </a:rPr>
                        <a:t>git@github.com:&lt;org&gt;/task-private.git (branch: develop)</a:t>
                      </a:r>
                    </a:p>
                  </a:txBody>
                  <a:tcPr>
                    <a:solidFill>
                      <a:srgbClr val="FFFFFF"/>
                    </a:solidFill>
                  </a:tcPr>
                </a:tc>
              </a:tr>
              <a:tr h="331470">
                <a:tc>
                  <a:txBody>
                    <a:bodyPr wrap="square"/>
                    <a:lstStyle/>
                    <a:p>
                      <a:pPr algn="l"/>
                      <a:r>
                        <a:rPr sz="1300">
                          <a:solidFill>
                            <a:srgbClr val="101010"/>
                          </a:solidFill>
                          <a:latin typeface="Noto Sans CJK JP"/>
                        </a:rPr>
                        <a:t>SKILL.md</a:t>
                      </a:r>
                    </a:p>
                  </a:txBody>
                  <a:tcPr>
                    <a:solidFill>
                      <a:srgbClr val="EEEEEE"/>
                    </a:solidFill>
                  </a:tcPr>
                </a:tc>
                <a:tc>
                  <a:txBody>
                    <a:bodyPr wrap="square"/>
                    <a:lstStyle/>
                    <a:p>
                      <a:pPr algn="l"/>
                      <a:r>
                        <a:rPr sz="1300">
                          <a:solidFill>
                            <a:srgbClr val="101010"/>
                          </a:solidFill>
                          <a:latin typeface="Noto Sans CJK JP"/>
                        </a:rPr>
                        <a:t>docs/superpowers/skills/module-library-ization/SKILL.md</a:t>
                      </a:r>
                    </a:p>
                  </a:txBody>
                  <a:tcPr>
                    <a:solidFill>
                      <a:srgbClr val="EEEEEE"/>
                    </a:solidFill>
                  </a:tcPr>
                </a:tc>
              </a:tr>
              <a:tr h="331470">
                <a:tc>
                  <a:txBody>
                    <a:bodyPr wrap="square"/>
                    <a:lstStyle/>
                    <a:p>
                      <a:pPr algn="l"/>
                      <a:r>
                        <a:rPr sz="1300">
                          <a:solidFill>
                            <a:srgbClr val="101010"/>
                          </a:solidFill>
                          <a:latin typeface="Noto Sans CJK JP"/>
                        </a:rPr>
                        <a:t>日本語マニュアル</a:t>
                      </a:r>
                    </a:p>
                  </a:txBody>
                  <a:tcPr>
                    <a:solidFill>
                      <a:srgbClr val="FFFFFF"/>
                    </a:solidFill>
                  </a:tcPr>
                </a:tc>
                <a:tc>
                  <a:txBody>
                    <a:bodyPr wrap="square"/>
                    <a:lstStyle/>
                    <a:p>
                      <a:pPr algn="l"/>
                      <a:r>
                        <a:rPr sz="1300">
                          <a:solidFill>
                            <a:srgbClr val="101010"/>
                          </a:solidFill>
                          <a:latin typeface="Noto Sans CJK JP"/>
                        </a:rPr>
                        <a:t>docs/manual/task-library-manual.tex / .pdf</a:t>
                      </a:r>
                    </a:p>
                  </a:txBody>
                  <a:tcPr>
                    <a:solidFill>
                      <a:srgbClr val="FFFFFF"/>
                    </a:solidFill>
                  </a:tcPr>
                </a:tc>
              </a:tr>
              <a:tr h="331470">
                <a:tc>
                  <a:txBody>
                    <a:bodyPr wrap="square"/>
                    <a:lstStyle/>
                    <a:p>
                      <a:pPr algn="l"/>
                      <a:r>
                        <a:rPr sz="1300">
                          <a:solidFill>
                            <a:srgbClr val="101010"/>
                          </a:solidFill>
                          <a:latin typeface="Noto Sans CJK JP"/>
                        </a:rPr>
                        <a:t>TR ラッパ README</a:t>
                      </a:r>
                    </a:p>
                  </a:txBody>
                  <a:tcPr>
                    <a:solidFill>
                      <a:srgbClr val="EEEEEE"/>
                    </a:solidFill>
                  </a:tcPr>
                </a:tc>
                <a:tc>
                  <a:txBody>
                    <a:bodyPr wrap="square"/>
                    <a:lstStyle/>
                    <a:p>
                      <a:pPr algn="l"/>
                      <a:r>
                        <a:rPr sz="1300">
                          <a:solidFill>
                            <a:srgbClr val="101010"/>
                          </a:solidFill>
                          <a:latin typeface="Noto Sans CJK JP"/>
                        </a:rPr>
                        <a:t>python/trlib/README.md</a:t>
                      </a:r>
                    </a:p>
                  </a:txBody>
                  <a:tcPr>
                    <a:solidFill>
                      <a:srgbClr val="EEEEEE"/>
                    </a:solidFill>
                  </a:tcPr>
                </a:tc>
              </a:tr>
              <a:tr h="331470">
                <a:tc>
                  <a:txBody>
                    <a:bodyPr wrap="square"/>
                    <a:lstStyle/>
                    <a:p>
                      <a:pPr algn="l"/>
                      <a:r>
                        <a:rPr sz="1300">
                          <a:solidFill>
                            <a:srgbClr val="101010"/>
                          </a:solidFill>
                          <a:latin typeface="Noto Sans CJK JP"/>
                        </a:rPr>
                        <a:t>TR MCP README</a:t>
                      </a:r>
                    </a:p>
                  </a:txBody>
                  <a:tcPr>
                    <a:solidFill>
                      <a:srgbClr val="FFFFFF"/>
                    </a:solidFill>
                  </a:tcPr>
                </a:tc>
                <a:tc>
                  <a:txBody>
                    <a:bodyPr wrap="square"/>
                    <a:lstStyle/>
                    <a:p>
                      <a:pPr algn="l"/>
                      <a:r>
                        <a:rPr sz="1300">
                          <a:solidFill>
                            <a:srgbClr val="101010"/>
                          </a:solidFill>
                          <a:latin typeface="Noto Sans CJK JP"/>
                        </a:rPr>
                        <a:t>python/mcp-servers/tr_mcp/README.md</a:t>
                      </a:r>
                    </a:p>
                  </a:txBody>
                  <a:tcPr>
                    <a:solidFill>
                      <a:srgbClr val="FFFFFF"/>
                    </a:solidFill>
                  </a:tcPr>
                </a:tc>
              </a:tr>
              <a:tr h="331470">
                <a:tc>
                  <a:txBody>
                    <a:bodyPr wrap="square"/>
                    <a:lstStyle/>
                    <a:p>
                      <a:pPr algn="l"/>
                      <a:r>
                        <a:rPr sz="1300">
                          <a:solidFill>
                            <a:srgbClr val="101010"/>
                          </a:solidFill>
                          <a:latin typeface="Noto Sans CJK JP"/>
                        </a:rPr>
                        <a:t>設計仕様</a:t>
                      </a:r>
                    </a:p>
                  </a:txBody>
                  <a:tcPr>
                    <a:solidFill>
                      <a:srgbClr val="EEEEEE"/>
                    </a:solidFill>
                  </a:tcPr>
                </a:tc>
                <a:tc>
                  <a:txBody>
                    <a:bodyPr wrap="square"/>
                    <a:lstStyle/>
                    <a:p>
                      <a:pPr algn="l"/>
                      <a:r>
                        <a:rPr sz="1300">
                          <a:solidFill>
                            <a:srgbClr val="101010"/>
                          </a:solidFill>
                          <a:latin typeface="Noto Sans CJK JP"/>
                        </a:rPr>
                        <a:t>docs/superpowers/specs/2026-04-17-tr-library-design.md</a:t>
                      </a:r>
                    </a:p>
                  </a:txBody>
                  <a:tcPr>
                    <a:solidFill>
                      <a:srgbClr val="EEEEEE"/>
                    </a:solidFill>
                  </a:tcPr>
                </a:tc>
              </a:tr>
              <a:tr h="331470">
                <a:tc>
                  <a:txBody>
                    <a:bodyPr wrap="square"/>
                    <a:lstStyle/>
                    <a:p>
                      <a:pPr algn="l"/>
                      <a:r>
                        <a:rPr sz="1300">
                          <a:solidFill>
                            <a:srgbClr val="101010"/>
                          </a:solidFill>
                          <a:latin typeface="Noto Sans CJK JP"/>
                        </a:rPr>
                        <a:t>変更履歴</a:t>
                      </a:r>
                    </a:p>
                  </a:txBody>
                  <a:tcPr>
                    <a:solidFill>
                      <a:srgbClr val="FFFFFF"/>
                    </a:solidFill>
                  </a:tcPr>
                </a:tc>
                <a:tc>
                  <a:txBody>
                    <a:bodyPr wrap="square"/>
                    <a:lstStyle/>
                    <a:p>
                      <a:pPr algn="l"/>
                      <a:r>
                        <a:rPr sz="1300">
                          <a:solidFill>
                            <a:srgbClr val="101010"/>
                          </a:solidFill>
                          <a:latin typeface="Noto Sans CJK JP"/>
                        </a:rPr>
                        <a:t>CHANGELOG.md</a:t>
                      </a:r>
                    </a:p>
                  </a:txBody>
                  <a:tcPr>
                    <a:solidFill>
                      <a:srgbClr val="FFFFFF"/>
                    </a:solidFill>
                  </a:tcPr>
                </a:tc>
              </a:tr>
            </a:tbl>
          </a:graphicData>
        </a:graphic>
      </p:graphicFrame>
      <p:sp>
        <p:nvSpPr>
          <p:cNvPr id="7" name="TextBox 6"/>
          <p:cNvSpPr txBox="1"/>
          <p:nvPr/>
        </p:nvSpPr>
        <p:spPr>
          <a:xfrm>
            <a:off x="457200" y="6400800"/>
            <a:ext cx="11247120" cy="365760"/>
          </a:xfrm>
          <a:prstGeom prst="rect">
            <a:avLst/>
          </a:prstGeom>
          <a:noFill/>
        </p:spPr>
        <p:txBody>
          <a:bodyPr wrap="square" lIns="36000" rIns="36000" tIns="18000" bIns="18000" anchor="t">
            <a:spAutoFit/>
          </a:bodyPr>
          <a:lstStyle/>
          <a:p>
            <a:pPr algn="ctr"/>
            <a:r>
              <a:rPr sz="1400" b="1">
                <a:solidFill>
                  <a:srgbClr val="0D47A1"/>
                </a:solidFill>
                <a:latin typeface="Noto Sans CJK JP"/>
              </a:rPr>
              <a:t>ご清聴ありがとうございました。質問は次の Q&amp;A スライドで承ります。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